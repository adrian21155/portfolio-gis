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256" r:id="rId5"/>
    <p:sldId id="258" r:id="rId6"/>
    <p:sldId id="259" r:id="rId7"/>
    <p:sldId id="270" r:id="rId8"/>
    <p:sldId id="271" r:id="rId9"/>
    <p:sldId id="272" r:id="rId10"/>
    <p:sldId id="260" r:id="rId11"/>
    <p:sldId id="273" r:id="rId12"/>
    <p:sldId id="263" r:id="rId13"/>
    <p:sldId id="276" r:id="rId14"/>
    <p:sldId id="277" r:id="rId15"/>
    <p:sldId id="261" r:id="rId16"/>
    <p:sldId id="274" r:id="rId17"/>
    <p:sldId id="264" r:id="rId18"/>
    <p:sldId id="278" r:id="rId19"/>
    <p:sldId id="279" r:id="rId20"/>
    <p:sldId id="262" r:id="rId21"/>
    <p:sldId id="275" r:id="rId22"/>
    <p:sldId id="265" r:id="rId23"/>
    <p:sldId id="266" r:id="rId24"/>
    <p:sldId id="280" r:id="rId25"/>
    <p:sldId id="268" r:id="rId26"/>
    <p:sldId id="281" r:id="rId27"/>
    <p:sldId id="269" r:id="rId28"/>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092E50-A501-4BF5-AD55-4BE802D60786}" v="68" dt="2026-01-28T18:32:05.5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782221-02BC-47EE-AC04-257FF233A390}" type="datetimeFigureOut">
              <a:rPr lang="pl-PL" smtClean="0"/>
              <a:t>12.05.2026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74F49F-D0A6-42FD-B331-FACB4AB3A484}" type="slidenum">
              <a:rPr lang="pl-PL" smtClean="0"/>
              <a:t>‹#›</a:t>
            </a:fld>
            <a:endParaRPr lang="pl-PL"/>
          </a:p>
        </p:txBody>
      </p:sp>
    </p:spTree>
    <p:extLst>
      <p:ext uri="{BB962C8B-B14F-4D97-AF65-F5344CB8AC3E}">
        <p14:creationId xmlns:p14="http://schemas.microsoft.com/office/powerpoint/2010/main" val="479516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6474F49F-D0A6-42FD-B331-FACB4AB3A484}" type="slidenum">
              <a:rPr lang="pl-PL" smtClean="0"/>
              <a:t>8</a:t>
            </a:fld>
            <a:endParaRPr lang="pl-PL"/>
          </a:p>
        </p:txBody>
      </p:sp>
    </p:spTree>
    <p:extLst>
      <p:ext uri="{BB962C8B-B14F-4D97-AF65-F5344CB8AC3E}">
        <p14:creationId xmlns:p14="http://schemas.microsoft.com/office/powerpoint/2010/main" val="594445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34A43AE-3EE3-1F93-ABB7-06A55419FA03}"/>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C0147552-C6B0-2510-D8C2-77D62F1DF5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6BB6E3A3-9B30-1DE9-8C16-9B028D1B2D32}"/>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5" name="Symbol zastępczy stopki 4">
            <a:extLst>
              <a:ext uri="{FF2B5EF4-FFF2-40B4-BE49-F238E27FC236}">
                <a16:creationId xmlns:a16="http://schemas.microsoft.com/office/drawing/2014/main" id="{A7258685-CFFB-7A02-B9F9-53395BE427C8}"/>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D9BF8544-F537-C4C9-E690-0B8911CC1B0E}"/>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269502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617810B-F455-5EB8-89AF-A22261C9A0AF}"/>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8C3252D6-A6E3-96E9-8619-C50768EFA3BF}"/>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5FE381B2-2682-39AD-BEE6-E75CFC1F39A1}"/>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5" name="Symbol zastępczy stopki 4">
            <a:extLst>
              <a:ext uri="{FF2B5EF4-FFF2-40B4-BE49-F238E27FC236}">
                <a16:creationId xmlns:a16="http://schemas.microsoft.com/office/drawing/2014/main" id="{D343ACA1-45B1-DC65-2244-7505D9EF1CC2}"/>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F3F27984-7344-967A-2BC9-E4EAE890B83C}"/>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3855572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ADFFEE7-C670-890A-0B8B-C43C9F32D223}"/>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021CF1AA-3F56-FCB9-4D8C-F68F6B29ED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A70813F0-1DEE-1AEB-9FA3-4C3D33D99D53}"/>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5" name="Symbol zastępczy stopki 4">
            <a:extLst>
              <a:ext uri="{FF2B5EF4-FFF2-40B4-BE49-F238E27FC236}">
                <a16:creationId xmlns:a16="http://schemas.microsoft.com/office/drawing/2014/main" id="{151EE054-AC1E-A1CB-31D8-E2B34F2CB7CF}"/>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3CA19CEE-763B-F60E-A869-AEF84354C9F4}"/>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309078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1718FAA-46CE-7186-D99D-B0819407DEC2}"/>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A746F4BF-C625-A478-2C9F-4348F7D4539F}"/>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6F388A7B-A1FA-C98B-3B44-8DFB6BAC9488}"/>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CF1AE3B3-2647-E59B-8EB5-446678FAE9F0}"/>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6" name="Symbol zastępczy stopki 5">
            <a:extLst>
              <a:ext uri="{FF2B5EF4-FFF2-40B4-BE49-F238E27FC236}">
                <a16:creationId xmlns:a16="http://schemas.microsoft.com/office/drawing/2014/main" id="{98133773-936E-6FFF-CA80-B7336B0050C0}"/>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B039E7AE-D772-0237-75BD-4C5385EB4461}"/>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1765046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A28783-8288-42D6-26D0-1835B6034362}"/>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3C10B773-EAA0-A9BA-9573-CA77B0EB9B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4266F3CA-2DB3-1933-DDF3-DDF2E197096F}"/>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B2C50AEC-E137-B018-CB30-F6B480CF53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A33D9FD1-1758-19E3-C219-23F31F07A8ED}"/>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42E70AC8-2B74-11AF-3E7F-6F36B286DA96}"/>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8" name="Symbol zastępczy stopki 7">
            <a:extLst>
              <a:ext uri="{FF2B5EF4-FFF2-40B4-BE49-F238E27FC236}">
                <a16:creationId xmlns:a16="http://schemas.microsoft.com/office/drawing/2014/main" id="{13B3EE98-79E1-A413-90D3-C3191B819BEA}"/>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6984EE6D-B4CF-4426-3CCB-D5DCE34EAE57}"/>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696833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F88545-EC47-0323-B015-1DC1631E2D92}"/>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805E8D9B-0EEA-C312-85A0-52A7176BED67}"/>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4" name="Symbol zastępczy stopki 3">
            <a:extLst>
              <a:ext uri="{FF2B5EF4-FFF2-40B4-BE49-F238E27FC236}">
                <a16:creationId xmlns:a16="http://schemas.microsoft.com/office/drawing/2014/main" id="{C94FDB2E-7515-B542-956F-D64C97AD0AFF}"/>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B9BB08FD-5E08-8210-3EB8-AE011BF4E565}"/>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1494115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FAD6FF63-D5C0-063E-F7C2-7A823719ACF1}"/>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3" name="Symbol zastępczy stopki 2">
            <a:extLst>
              <a:ext uri="{FF2B5EF4-FFF2-40B4-BE49-F238E27FC236}">
                <a16:creationId xmlns:a16="http://schemas.microsoft.com/office/drawing/2014/main" id="{6642B860-78AD-CC91-68C3-21091F143EA3}"/>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A7EC718A-8366-006F-A39E-EE6BE6906906}"/>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3790947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8DFFF50-D180-D503-362A-5EF5D0CF79BF}"/>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EC494A4D-5080-94AA-9494-9497921E48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7970BDFE-56BC-9593-F36E-9EBB7AD5BA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8F34AEB6-74FB-0696-30F8-93AE1CDA6AE1}"/>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6" name="Symbol zastępczy stopki 5">
            <a:extLst>
              <a:ext uri="{FF2B5EF4-FFF2-40B4-BE49-F238E27FC236}">
                <a16:creationId xmlns:a16="http://schemas.microsoft.com/office/drawing/2014/main" id="{A2196124-2E3C-2EAE-5E83-B309B9BBD887}"/>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466ED0B3-96DB-684E-1A4B-1A497C7F85B0}"/>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3381347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87CA605-8867-0A82-99FB-770EDDE3F66D}"/>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0BD03142-D772-D23F-AA9E-0AEE285BCB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l-PL"/>
              <a:t>Kliknij ikonę, aby dodać obraz</a:t>
            </a:r>
          </a:p>
        </p:txBody>
      </p:sp>
      <p:sp>
        <p:nvSpPr>
          <p:cNvPr id="4" name="Symbol zastępczy tekstu 3">
            <a:extLst>
              <a:ext uri="{FF2B5EF4-FFF2-40B4-BE49-F238E27FC236}">
                <a16:creationId xmlns:a16="http://schemas.microsoft.com/office/drawing/2014/main" id="{EA00DA2C-8A66-B053-3B13-9BF044B07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47487748-2C66-D969-4D40-52B5A504D031}"/>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6" name="Symbol zastępczy stopki 5">
            <a:extLst>
              <a:ext uri="{FF2B5EF4-FFF2-40B4-BE49-F238E27FC236}">
                <a16:creationId xmlns:a16="http://schemas.microsoft.com/office/drawing/2014/main" id="{C1B261F1-F69F-59C4-8E78-DC8DECFAB7B2}"/>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EB6BE7BB-8CE2-B47E-1AA5-A1E38B3595B6}"/>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3800375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4CCC003-B9E8-410A-D114-0262CD6880B3}"/>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A889D8AD-8F71-F6E8-1B98-9DD5C0827A4B}"/>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B19602B2-6230-676C-96A2-0B67B29A6FFE}"/>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5" name="Symbol zastępczy stopki 4">
            <a:extLst>
              <a:ext uri="{FF2B5EF4-FFF2-40B4-BE49-F238E27FC236}">
                <a16:creationId xmlns:a16="http://schemas.microsoft.com/office/drawing/2014/main" id="{F23A270D-6D9B-7634-985F-9FE8A1A51096}"/>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A3F45F28-C573-DCB1-6127-5CD427D80FB4}"/>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3159845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79BA3D47-6D35-01F4-5EA1-8E5D26F2EA16}"/>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3C3C8EFE-6F78-1FF0-E63B-B486438632BD}"/>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551065DC-A907-BEC6-3583-00CEA73A9133}"/>
              </a:ext>
            </a:extLst>
          </p:cNvPr>
          <p:cNvSpPr>
            <a:spLocks noGrp="1"/>
          </p:cNvSpPr>
          <p:nvPr>
            <p:ph type="dt" sz="half" idx="10"/>
          </p:nvPr>
        </p:nvSpPr>
        <p:spPr/>
        <p:txBody>
          <a:bodyPr/>
          <a:lstStyle/>
          <a:p>
            <a:fld id="{466B42FC-CC38-4F7D-8611-B8092EE0097F}" type="datetimeFigureOut">
              <a:rPr lang="pl-PL" smtClean="0"/>
              <a:t>12.05.2026</a:t>
            </a:fld>
            <a:endParaRPr lang="pl-PL"/>
          </a:p>
        </p:txBody>
      </p:sp>
      <p:sp>
        <p:nvSpPr>
          <p:cNvPr id="5" name="Symbol zastępczy stopki 4">
            <a:extLst>
              <a:ext uri="{FF2B5EF4-FFF2-40B4-BE49-F238E27FC236}">
                <a16:creationId xmlns:a16="http://schemas.microsoft.com/office/drawing/2014/main" id="{8140E7A8-8AF4-7A6B-B542-DF3F46EC3C1C}"/>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128B0D4E-3BA2-6B56-5E02-BF2E2B0E32C1}"/>
              </a:ext>
            </a:extLst>
          </p:cNvPr>
          <p:cNvSpPr>
            <a:spLocks noGrp="1"/>
          </p:cNvSpPr>
          <p:nvPr>
            <p:ph type="sldNum" sz="quarter" idx="12"/>
          </p:nvPr>
        </p:nvSpPr>
        <p:spPr/>
        <p:txBody>
          <a:bodyPr/>
          <a:lstStyle/>
          <a:p>
            <a:fld id="{1DE433BF-0758-434C-8A86-2E9B5B4BD915}" type="slidenum">
              <a:rPr lang="pl-PL" smtClean="0"/>
              <a:t>‹#›</a:t>
            </a:fld>
            <a:endParaRPr lang="pl-PL"/>
          </a:p>
        </p:txBody>
      </p:sp>
    </p:spTree>
    <p:extLst>
      <p:ext uri="{BB962C8B-B14F-4D97-AF65-F5344CB8AC3E}">
        <p14:creationId xmlns:p14="http://schemas.microsoft.com/office/powerpoint/2010/main" val="3618311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A241A38B-94AF-F141-D76C-07778CCA1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F8B726B8-0121-576C-E927-00300702FD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18EACF4E-C5C9-D456-1237-F0CC1ECC9E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6B42FC-CC38-4F7D-8611-B8092EE0097F}" type="datetimeFigureOut">
              <a:rPr lang="pl-PL" smtClean="0"/>
              <a:t>12.05.2026</a:t>
            </a:fld>
            <a:endParaRPr lang="pl-PL"/>
          </a:p>
        </p:txBody>
      </p:sp>
      <p:sp>
        <p:nvSpPr>
          <p:cNvPr id="5" name="Symbol zastępczy stopki 4">
            <a:extLst>
              <a:ext uri="{FF2B5EF4-FFF2-40B4-BE49-F238E27FC236}">
                <a16:creationId xmlns:a16="http://schemas.microsoft.com/office/drawing/2014/main" id="{15DE258E-5C1E-25AB-DEA0-9C2CFD00F4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4F0FB272-4311-2CB1-4F37-9C23F99C74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E433BF-0758-434C-8A86-2E9B5B4BD915}" type="slidenum">
              <a:rPr lang="pl-PL" smtClean="0"/>
              <a:t>‹#›</a:t>
            </a:fld>
            <a:endParaRPr lang="pl-PL"/>
          </a:p>
        </p:txBody>
      </p:sp>
    </p:spTree>
    <p:extLst>
      <p:ext uri="{BB962C8B-B14F-4D97-AF65-F5344CB8AC3E}">
        <p14:creationId xmlns:p14="http://schemas.microsoft.com/office/powerpoint/2010/main" val="28926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Obraz 4" descr="Obraz zawierający Sztuka dziecięca, żółty, Wielobarwność, sztuka&#10;&#10;Zawartość wygenerowana przez AI może być niepoprawna.">
            <a:extLst>
              <a:ext uri="{FF2B5EF4-FFF2-40B4-BE49-F238E27FC236}">
                <a16:creationId xmlns:a16="http://schemas.microsoft.com/office/drawing/2014/main" id="{8A53A3D2-9F2E-205F-B9F5-E7839DF3B23B}"/>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14476" b="6018"/>
          <a:stretch>
            <a:fillRect/>
          </a:stretch>
        </p:blipFill>
        <p:spPr>
          <a:xfrm>
            <a:off x="20" y="1"/>
            <a:ext cx="12191980" cy="6857999"/>
          </a:xfrm>
          <a:prstGeom prst="rect">
            <a:avLst/>
          </a:prstGeom>
        </p:spPr>
      </p:pic>
      <p:sp>
        <p:nvSpPr>
          <p:cNvPr id="2" name="Tytuł 1">
            <a:extLst>
              <a:ext uri="{FF2B5EF4-FFF2-40B4-BE49-F238E27FC236}">
                <a16:creationId xmlns:a16="http://schemas.microsoft.com/office/drawing/2014/main" id="{4DF5CD97-D9E1-930A-93DF-73148126154E}"/>
              </a:ext>
            </a:extLst>
          </p:cNvPr>
          <p:cNvSpPr>
            <a:spLocks noGrp="1"/>
          </p:cNvSpPr>
          <p:nvPr>
            <p:ph type="ctrTitle"/>
          </p:nvPr>
        </p:nvSpPr>
        <p:spPr>
          <a:xfrm>
            <a:off x="1524000" y="1122362"/>
            <a:ext cx="9144000" cy="2900518"/>
          </a:xfrm>
        </p:spPr>
        <p:txBody>
          <a:bodyPr>
            <a:normAutofit/>
          </a:bodyPr>
          <a:lstStyle/>
          <a:p>
            <a:r>
              <a:rPr lang="pl-PL" dirty="0"/>
              <a:t>Interpolacja przestrzenna stężeń PM10 w Polsce</a:t>
            </a:r>
            <a:endParaRPr lang="pl-PL" dirty="0">
              <a:solidFill>
                <a:srgbClr val="FFFFFF"/>
              </a:solidFill>
            </a:endParaRPr>
          </a:p>
        </p:txBody>
      </p:sp>
      <p:sp>
        <p:nvSpPr>
          <p:cNvPr id="3" name="Podtytuł 2">
            <a:extLst>
              <a:ext uri="{FF2B5EF4-FFF2-40B4-BE49-F238E27FC236}">
                <a16:creationId xmlns:a16="http://schemas.microsoft.com/office/drawing/2014/main" id="{51E6A1F9-B7D9-42CE-673D-191AF72E69B0}"/>
              </a:ext>
            </a:extLst>
          </p:cNvPr>
          <p:cNvSpPr>
            <a:spLocks noGrp="1"/>
          </p:cNvSpPr>
          <p:nvPr>
            <p:ph type="subTitle" idx="1"/>
          </p:nvPr>
        </p:nvSpPr>
        <p:spPr>
          <a:xfrm>
            <a:off x="1524000" y="4159404"/>
            <a:ext cx="9144000" cy="1098395"/>
          </a:xfrm>
        </p:spPr>
        <p:txBody>
          <a:bodyPr>
            <a:normAutofit/>
          </a:bodyPr>
          <a:lstStyle/>
          <a:p>
            <a:r>
              <a:rPr lang="pl-PL">
                <a:solidFill>
                  <a:srgbClr val="FFFFFF"/>
                </a:solidFill>
              </a:rPr>
              <a:t>Autor: Barbasiewicz Adrian</a:t>
            </a:r>
          </a:p>
        </p:txBody>
      </p:sp>
    </p:spTree>
    <p:extLst>
      <p:ext uri="{BB962C8B-B14F-4D97-AF65-F5344CB8AC3E}">
        <p14:creationId xmlns:p14="http://schemas.microsoft.com/office/powerpoint/2010/main" val="319539885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D51C183-004A-EFA4-E79F-269DDBAB491E}"/>
              </a:ext>
            </a:extLst>
          </p:cNvPr>
          <p:cNvSpPr>
            <a:spLocks noGrp="1"/>
          </p:cNvSpPr>
          <p:nvPr>
            <p:ph type="title"/>
          </p:nvPr>
        </p:nvSpPr>
        <p:spPr/>
        <p:txBody>
          <a:bodyPr>
            <a:normAutofit/>
          </a:bodyPr>
          <a:lstStyle/>
          <a:p>
            <a:r>
              <a:rPr lang="pl-PL" sz="3200" dirty="0"/>
              <a:t>Charakterystyka wybranego związku chemicznego</a:t>
            </a:r>
          </a:p>
        </p:txBody>
      </p:sp>
      <p:sp>
        <p:nvSpPr>
          <p:cNvPr id="3" name="Symbol zastępczy zawartości 2">
            <a:extLst>
              <a:ext uri="{FF2B5EF4-FFF2-40B4-BE49-F238E27FC236}">
                <a16:creationId xmlns:a16="http://schemas.microsoft.com/office/drawing/2014/main" id="{069472CA-F9E3-DB22-55E7-286E692476F4}"/>
              </a:ext>
            </a:extLst>
          </p:cNvPr>
          <p:cNvSpPr>
            <a:spLocks noGrp="1"/>
          </p:cNvSpPr>
          <p:nvPr>
            <p:ph idx="1"/>
          </p:nvPr>
        </p:nvSpPr>
        <p:spPr>
          <a:xfrm>
            <a:off x="254524" y="1404594"/>
            <a:ext cx="11774078" cy="5279009"/>
          </a:xfrm>
        </p:spPr>
        <p:txBody>
          <a:bodyPr>
            <a:normAutofit fontScale="92500" lnSpcReduction="10000"/>
          </a:bodyPr>
          <a:lstStyle/>
          <a:p>
            <a:pPr marL="0" indent="0" algn="just">
              <a:spcBef>
                <a:spcPts val="0"/>
              </a:spcBef>
              <a:buNone/>
            </a:pPr>
            <a:r>
              <a:rPr lang="pl-PL" sz="2400" dirty="0"/>
              <a:t>Do wykonania interpolacji przestrzennej wykorzystano dane dotyczące stężeń pyłu zawieszonego </a:t>
            </a:r>
            <a:r>
              <a:rPr lang="pl-PL" sz="2400" b="1" dirty="0"/>
              <a:t>PM10</a:t>
            </a:r>
            <a:r>
              <a:rPr lang="pl-PL" sz="2400" dirty="0"/>
              <a:t> w powietrzu atmosferycznym. PM10 jest jednym z kluczowych wskaźników jakości powietrza monitorowanych w Polsce.</a:t>
            </a:r>
          </a:p>
          <a:p>
            <a:pPr marL="0" indent="0" algn="just">
              <a:spcBef>
                <a:spcPts val="0"/>
              </a:spcBef>
              <a:buNone/>
            </a:pPr>
            <a:r>
              <a:rPr lang="pl-PL" sz="2400" dirty="0"/>
              <a:t>Analizę przeprowadzono na podstawie średnich wartości stężeń PM10 pochodzących ze stacji pomiarowych zlokalizowanych na obszarze całego kraju. Dane obejmowały dwa badane okresy czasowe:</a:t>
            </a:r>
          </a:p>
          <a:p>
            <a:pPr lvl="1" indent="0">
              <a:spcBef>
                <a:spcPts val="0"/>
              </a:spcBef>
            </a:pPr>
            <a:r>
              <a:rPr lang="pl-PL" sz="2200" b="1" dirty="0"/>
              <a:t>Okres I: średnia wieloletnia z lat 2011–2024</a:t>
            </a:r>
            <a:endParaRPr lang="pl-PL" sz="2200" dirty="0"/>
          </a:p>
          <a:p>
            <a:pPr lvl="1" indent="0">
              <a:spcBef>
                <a:spcPts val="0"/>
              </a:spcBef>
            </a:pPr>
            <a:r>
              <a:rPr lang="pl-PL" sz="2200" b="1" dirty="0"/>
              <a:t>Okres II: wybrane lata porównawcze (2019 oraz 2021)</a:t>
            </a:r>
            <a:endParaRPr lang="pl-PL" sz="2200" dirty="0"/>
          </a:p>
          <a:p>
            <a:pPr marL="0" indent="0" algn="just">
              <a:spcBef>
                <a:spcPts val="0"/>
              </a:spcBef>
              <a:buNone/>
            </a:pPr>
            <a:r>
              <a:rPr lang="pl-PL" sz="2400" dirty="0"/>
              <a:t>Dla każdej stacji obliczono wartości średnioroczne, a następnie wykonano interpolację przestrzenną w celu przedstawienia rozkładu stężeń PM10 na terenie Polski.</a:t>
            </a:r>
          </a:p>
          <a:p>
            <a:pPr marL="0" indent="0" algn="just">
              <a:spcBef>
                <a:spcPts val="0"/>
              </a:spcBef>
              <a:buNone/>
            </a:pPr>
            <a:r>
              <a:rPr lang="pl-PL" sz="2400" dirty="0"/>
              <a:t>Pył zawieszony PM10 to mieszanina cząstek stałych o średnicy nieprzekraczającej </a:t>
            </a:r>
            <a:r>
              <a:rPr lang="pl-PL" sz="2400" b="1" dirty="0"/>
              <a:t>10 µm</a:t>
            </a:r>
            <a:r>
              <a:rPr lang="pl-PL" sz="2400" dirty="0"/>
              <a:t>, zawierająca m.in. produkty spalania paliw stałych i ciekłych, które mogą stanowić zagrożenie dla zdrowia człowieka.</a:t>
            </a:r>
          </a:p>
          <a:p>
            <a:pPr marL="0" indent="0">
              <a:spcBef>
                <a:spcPts val="0"/>
              </a:spcBef>
              <a:buNone/>
            </a:pPr>
            <a:r>
              <a:rPr lang="pl-PL" sz="2400" dirty="0"/>
              <a:t>Interpolację przeprowadzono z zastosowaniem trzech metod:</a:t>
            </a:r>
          </a:p>
          <a:p>
            <a:pPr lvl="1" indent="0">
              <a:spcBef>
                <a:spcPts val="0"/>
              </a:spcBef>
            </a:pPr>
            <a:r>
              <a:rPr lang="pl-PL" sz="2200" b="1" dirty="0"/>
              <a:t>IDW</a:t>
            </a:r>
            <a:r>
              <a:rPr lang="pl-PL" sz="2200" dirty="0"/>
              <a:t> – metoda ważonej odwrotności odległości</a:t>
            </a:r>
          </a:p>
          <a:p>
            <a:pPr lvl="1" indent="0">
              <a:spcBef>
                <a:spcPts val="0"/>
              </a:spcBef>
            </a:pPr>
            <a:r>
              <a:rPr lang="pl-PL" sz="2200" b="1" dirty="0"/>
              <a:t>RBFF</a:t>
            </a:r>
            <a:r>
              <a:rPr lang="pl-PL" sz="2200" dirty="0"/>
              <a:t> – metoda radialnych funkcji bazowych</a:t>
            </a:r>
          </a:p>
          <a:p>
            <a:pPr lvl="1" indent="0">
              <a:spcBef>
                <a:spcPts val="0"/>
              </a:spcBef>
            </a:pPr>
            <a:r>
              <a:rPr lang="pl-PL" sz="2200" b="1" dirty="0"/>
              <a:t>Kriging</a:t>
            </a:r>
            <a:r>
              <a:rPr lang="pl-PL" sz="2200" dirty="0"/>
              <a:t> – metoda geostatystyczna oparta na semiwariogramie</a:t>
            </a:r>
          </a:p>
          <a:p>
            <a:pPr marL="0" indent="0" algn="just">
              <a:spcBef>
                <a:spcPts val="0"/>
              </a:spcBef>
              <a:buNone/>
            </a:pPr>
            <a:r>
              <a:rPr lang="pl-PL" sz="2400" dirty="0"/>
              <a:t>Otrzymane mapy interpolacyjne posłużyły do analizy przestrzennego zróżnicowania PM10 oraz oceny zmian pomiędzy badanymi okresami.</a:t>
            </a:r>
          </a:p>
        </p:txBody>
      </p:sp>
    </p:spTree>
    <p:extLst>
      <p:ext uri="{BB962C8B-B14F-4D97-AF65-F5344CB8AC3E}">
        <p14:creationId xmlns:p14="http://schemas.microsoft.com/office/powerpoint/2010/main" val="2868978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EB79C44C-446B-4817-6D82-BC949617E68A}"/>
              </a:ext>
            </a:extLst>
          </p:cNvPr>
          <p:cNvSpPr>
            <a:spLocks noGrp="1"/>
          </p:cNvSpPr>
          <p:nvPr>
            <p:ph type="title" idx="4294967295"/>
          </p:nvPr>
        </p:nvSpPr>
        <p:spPr>
          <a:xfrm>
            <a:off x="1113810" y="2825248"/>
            <a:ext cx="4036334" cy="2387600"/>
          </a:xfrm>
        </p:spPr>
        <p:txBody>
          <a:bodyPr vert="horz" lIns="91440" tIns="45720" rIns="91440" bIns="45720" rtlCol="0" anchor="t">
            <a:normAutofit/>
          </a:bodyPr>
          <a:lstStyle/>
          <a:p>
            <a:r>
              <a:rPr lang="en-US" sz="5000" kern="1200" dirty="0">
                <a:solidFill>
                  <a:schemeClr val="tx1"/>
                </a:solidFill>
                <a:latin typeface="+mj-lt"/>
                <a:ea typeface="+mj-ea"/>
                <a:cs typeface="+mj-cs"/>
              </a:rPr>
              <a:t>Analiza </a:t>
            </a:r>
            <a:r>
              <a:rPr lang="en-US" sz="5000" kern="1200" dirty="0" err="1">
                <a:solidFill>
                  <a:schemeClr val="tx1"/>
                </a:solidFill>
                <a:latin typeface="+mj-lt"/>
                <a:ea typeface="+mj-ea"/>
                <a:cs typeface="+mj-cs"/>
              </a:rPr>
              <a:t>danych</a:t>
            </a:r>
            <a:r>
              <a:rPr lang="en-US" sz="5000" kern="1200" dirty="0">
                <a:solidFill>
                  <a:schemeClr val="tx1"/>
                </a:solidFill>
                <a:latin typeface="+mj-lt"/>
                <a:ea typeface="+mj-ea"/>
                <a:cs typeface="+mj-cs"/>
              </a:rPr>
              <a:t> </a:t>
            </a:r>
            <a:r>
              <a:rPr lang="en-US" sz="5000" kern="1200" dirty="0" err="1">
                <a:solidFill>
                  <a:schemeClr val="tx1"/>
                </a:solidFill>
                <a:latin typeface="+mj-lt"/>
                <a:ea typeface="+mj-ea"/>
                <a:cs typeface="+mj-cs"/>
              </a:rPr>
              <a:t>wejściowych</a:t>
            </a:r>
            <a:r>
              <a:rPr lang="en-US" sz="5000" kern="1200" dirty="0">
                <a:solidFill>
                  <a:schemeClr val="tx1"/>
                </a:solidFill>
                <a:latin typeface="+mj-lt"/>
                <a:ea typeface="+mj-ea"/>
                <a:cs typeface="+mj-cs"/>
              </a:rPr>
              <a:t> </a:t>
            </a:r>
            <a:r>
              <a:rPr lang="en-US" sz="5000" kern="1200" dirty="0" err="1">
                <a:solidFill>
                  <a:schemeClr val="tx1"/>
                </a:solidFill>
                <a:latin typeface="+mj-lt"/>
                <a:ea typeface="+mj-ea"/>
                <a:cs typeface="+mj-cs"/>
              </a:rPr>
              <a:t>na</a:t>
            </a:r>
            <a:r>
              <a:rPr lang="en-US" sz="5000" kern="1200" dirty="0">
                <a:solidFill>
                  <a:schemeClr val="tx1"/>
                </a:solidFill>
                <a:latin typeface="+mj-lt"/>
                <a:ea typeface="+mj-ea"/>
                <a:cs typeface="+mj-cs"/>
              </a:rPr>
              <a:t> </a:t>
            </a:r>
            <a:r>
              <a:rPr lang="en-US" sz="5000" kern="1200" dirty="0" err="1">
                <a:solidFill>
                  <a:schemeClr val="tx1"/>
                </a:solidFill>
                <a:latin typeface="+mj-lt"/>
                <a:ea typeface="+mj-ea"/>
                <a:cs typeface="+mj-cs"/>
              </a:rPr>
              <a:t>wykresach</a:t>
            </a:r>
            <a:endParaRPr lang="en-US" sz="5000" kern="1200" dirty="0">
              <a:solidFill>
                <a:schemeClr val="tx1"/>
              </a:solidFill>
              <a:latin typeface="+mj-lt"/>
              <a:ea typeface="+mj-ea"/>
              <a:cs typeface="+mj-cs"/>
            </a:endParaRPr>
          </a:p>
        </p:txBody>
      </p:sp>
      <p:grpSp>
        <p:nvGrpSpPr>
          <p:cNvPr id="39" name="Group 38">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40" name="Rectangle 39">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Obraz 10" descr="Obraz zawierający diagram, linia, Czcionka, Wykres&#10;&#10;Zawartość wygenerowana przez AI może być niepoprawna.">
            <a:extLst>
              <a:ext uri="{FF2B5EF4-FFF2-40B4-BE49-F238E27FC236}">
                <a16:creationId xmlns:a16="http://schemas.microsoft.com/office/drawing/2014/main" id="{53BA2D02-39CA-B141-F220-FBAB489EC7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2492" y="2609712"/>
            <a:ext cx="5536001" cy="1563919"/>
          </a:xfrm>
          <a:prstGeom prst="rect">
            <a:avLst/>
          </a:prstGeom>
        </p:spPr>
      </p:pic>
      <p:sp>
        <p:nvSpPr>
          <p:cNvPr id="46" name="Rectangle 4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9647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ytuł 3">
            <a:extLst>
              <a:ext uri="{FF2B5EF4-FFF2-40B4-BE49-F238E27FC236}">
                <a16:creationId xmlns:a16="http://schemas.microsoft.com/office/drawing/2014/main" id="{DAFF3722-C8C8-580F-074F-FDA9C535BD9F}"/>
              </a:ext>
            </a:extLst>
          </p:cNvPr>
          <p:cNvSpPr>
            <a:spLocks noGrp="1"/>
          </p:cNvSpPr>
          <p:nvPr>
            <p:ph type="title"/>
          </p:nvPr>
        </p:nvSpPr>
        <p:spPr>
          <a:xfrm>
            <a:off x="1113810" y="2825248"/>
            <a:ext cx="4036334" cy="2387600"/>
          </a:xfrm>
        </p:spPr>
        <p:txBody>
          <a:bodyPr vert="horz" lIns="91440" tIns="45720" rIns="91440" bIns="45720" rtlCol="0" anchor="t">
            <a:normAutofit/>
          </a:bodyPr>
          <a:lstStyle/>
          <a:p>
            <a:r>
              <a:rPr lang="en-US" sz="5000" kern="1200">
                <a:solidFill>
                  <a:schemeClr val="tx1"/>
                </a:solidFill>
                <a:latin typeface="+mj-lt"/>
                <a:ea typeface="+mj-ea"/>
                <a:cs typeface="+mj-cs"/>
              </a:rPr>
              <a:t>Analiza danych wejściowych na wykresach</a:t>
            </a:r>
          </a:p>
        </p:txBody>
      </p:sp>
      <p:grpSp>
        <p:nvGrpSpPr>
          <p:cNvPr id="18" name="Group 17">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19" name="Rectangle 18">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Obraz 2" descr="Obraz zawierający Wykres, linia, diagram, zrzut ekranu&#10;&#10;Zawartość wygenerowana przez AI może być niepoprawna.">
            <a:extLst>
              <a:ext uri="{FF2B5EF4-FFF2-40B4-BE49-F238E27FC236}">
                <a16:creationId xmlns:a16="http://schemas.microsoft.com/office/drawing/2014/main" id="{EDF5BD71-C4E0-47E4-E552-CD33E7A3FF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2492" y="2616632"/>
            <a:ext cx="5536001" cy="1550080"/>
          </a:xfrm>
          <a:prstGeom prst="rect">
            <a:avLst/>
          </a:prstGeom>
        </p:spPr>
      </p:pic>
      <p:sp>
        <p:nvSpPr>
          <p:cNvPr id="25" name="Rectangle 2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9289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ytuł 5">
            <a:extLst>
              <a:ext uri="{FF2B5EF4-FFF2-40B4-BE49-F238E27FC236}">
                <a16:creationId xmlns:a16="http://schemas.microsoft.com/office/drawing/2014/main" id="{510FF63A-33EE-6A5B-0D61-2FACFB48F7D1}"/>
              </a:ext>
            </a:extLst>
          </p:cNvPr>
          <p:cNvSpPr>
            <a:spLocks noGrp="1"/>
          </p:cNvSpPr>
          <p:nvPr>
            <p:ph type="title"/>
          </p:nvPr>
        </p:nvSpPr>
        <p:spPr>
          <a:xfrm>
            <a:off x="1113810" y="2825248"/>
            <a:ext cx="4036334" cy="2387600"/>
          </a:xfrm>
        </p:spPr>
        <p:txBody>
          <a:bodyPr vert="horz" lIns="91440" tIns="45720" rIns="91440" bIns="45720" rtlCol="0" anchor="t">
            <a:normAutofit/>
          </a:bodyPr>
          <a:lstStyle/>
          <a:p>
            <a:r>
              <a:rPr lang="en-US" sz="5000" kern="1200">
                <a:solidFill>
                  <a:schemeClr val="tx1"/>
                </a:solidFill>
                <a:latin typeface="+mj-lt"/>
                <a:ea typeface="+mj-ea"/>
                <a:cs typeface="+mj-cs"/>
              </a:rPr>
              <a:t>Analiza danych wejściowych na wykresach</a:t>
            </a:r>
          </a:p>
        </p:txBody>
      </p:sp>
      <p:grpSp>
        <p:nvGrpSpPr>
          <p:cNvPr id="20" name="Group 19">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21" name="Rectangle 20">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Obraz 2" descr="Obraz zawierający linia, tekst, Wykres, biały&#10;&#10;Zawartość wygenerowana przez AI może być niepoprawna.">
            <a:extLst>
              <a:ext uri="{FF2B5EF4-FFF2-40B4-BE49-F238E27FC236}">
                <a16:creationId xmlns:a16="http://schemas.microsoft.com/office/drawing/2014/main" id="{0BD7E1CD-1464-CA95-E452-C040545117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2492" y="2616632"/>
            <a:ext cx="5536001" cy="1550080"/>
          </a:xfrm>
          <a:prstGeom prst="rect">
            <a:avLst/>
          </a:prstGeom>
        </p:spPr>
      </p:pic>
      <p:sp>
        <p:nvSpPr>
          <p:cNvPr id="27" name="Rectangle 2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277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BFBD83F-EC27-6D1C-82F5-DAF6E9D5DD2F}"/>
              </a:ext>
            </a:extLst>
          </p:cNvPr>
          <p:cNvSpPr>
            <a:spLocks noGrp="1"/>
          </p:cNvSpPr>
          <p:nvPr>
            <p:ph type="title"/>
          </p:nvPr>
        </p:nvSpPr>
        <p:spPr/>
        <p:txBody>
          <a:bodyPr>
            <a:normAutofit/>
          </a:bodyPr>
          <a:lstStyle/>
          <a:p>
            <a:r>
              <a:rPr lang="en-US" sz="3200" dirty="0"/>
              <a:t>Analiza </a:t>
            </a:r>
            <a:r>
              <a:rPr lang="en-US" sz="3200" dirty="0" err="1"/>
              <a:t>danych</a:t>
            </a:r>
            <a:r>
              <a:rPr lang="en-US" sz="3200" dirty="0"/>
              <a:t> </a:t>
            </a:r>
            <a:r>
              <a:rPr lang="en-US" sz="3200" dirty="0" err="1"/>
              <a:t>wejściowych</a:t>
            </a:r>
            <a:r>
              <a:rPr lang="en-US" sz="3200" dirty="0"/>
              <a:t> </a:t>
            </a:r>
            <a:r>
              <a:rPr lang="en-US" sz="3200" dirty="0" err="1"/>
              <a:t>na</a:t>
            </a:r>
            <a:r>
              <a:rPr lang="en-US" sz="3200" dirty="0"/>
              <a:t> </a:t>
            </a:r>
            <a:r>
              <a:rPr lang="en-US" sz="3200" dirty="0" err="1"/>
              <a:t>wykresach</a:t>
            </a:r>
            <a:endParaRPr lang="pl-PL" sz="3200" dirty="0"/>
          </a:p>
        </p:txBody>
      </p:sp>
      <p:sp>
        <p:nvSpPr>
          <p:cNvPr id="3" name="Symbol zastępczy zawartości 2">
            <a:extLst>
              <a:ext uri="{FF2B5EF4-FFF2-40B4-BE49-F238E27FC236}">
                <a16:creationId xmlns:a16="http://schemas.microsoft.com/office/drawing/2014/main" id="{E3F0E2AE-CEB2-8D7F-F256-D2236730267D}"/>
              </a:ext>
            </a:extLst>
          </p:cNvPr>
          <p:cNvSpPr>
            <a:spLocks noGrp="1"/>
          </p:cNvSpPr>
          <p:nvPr>
            <p:ph idx="1"/>
          </p:nvPr>
        </p:nvSpPr>
        <p:spPr>
          <a:xfrm>
            <a:off x="838200" y="1435100"/>
            <a:ext cx="10515600" cy="5168900"/>
          </a:xfrm>
        </p:spPr>
        <p:txBody>
          <a:bodyPr>
            <a:normAutofit lnSpcReduction="10000"/>
          </a:bodyPr>
          <a:lstStyle/>
          <a:p>
            <a:pPr marL="0" indent="0">
              <a:spcBef>
                <a:spcPts val="100"/>
              </a:spcBef>
              <a:buNone/>
            </a:pPr>
            <a:r>
              <a:rPr lang="pl-PL" sz="1600" b="1" dirty="0"/>
              <a:t>Histogram średnich wartości PM10 (2011–2024)</a:t>
            </a:r>
          </a:p>
          <a:p>
            <a:pPr marL="0" indent="0">
              <a:spcBef>
                <a:spcPts val="100"/>
              </a:spcBef>
              <a:buNone/>
            </a:pPr>
            <a:r>
              <a:rPr lang="pl-PL" sz="1600" dirty="0"/>
              <a:t>Histogram przedstawia rozkład średnich stężeń PM10 obliczonych dla stacji pomiarowych w okresie 2011–2024. Większość obserwacji skupia się w przedziale około 20–35 µg/m³. Rozkład ma charakter asymetryczny prawostronnie, co oznacza występowanie pojedynczych wartości wysokich, przekraczających 60 µg/m³. Średnia wartość stężenia wynosi około 28,9 µg/m³. Obecność wartości skrajnych może wynikać z lokalnych źródeł emisji oraz zróżnicowania warunków środowiskowych.</a:t>
            </a:r>
          </a:p>
          <a:p>
            <a:pPr marL="0" indent="0">
              <a:spcBef>
                <a:spcPts val="100"/>
              </a:spcBef>
              <a:buNone/>
            </a:pPr>
            <a:endParaRPr lang="pl-PL" sz="1600" dirty="0"/>
          </a:p>
          <a:p>
            <a:pPr marL="0" indent="0">
              <a:spcBef>
                <a:spcPts val="100"/>
              </a:spcBef>
              <a:buNone/>
            </a:pPr>
            <a:r>
              <a:rPr lang="pl-PL" sz="1600" b="1" dirty="0"/>
              <a:t>Rozkład wartości PM10 w poszczególnych latach</a:t>
            </a:r>
          </a:p>
          <a:p>
            <a:pPr marL="0" indent="0">
              <a:spcBef>
                <a:spcPts val="100"/>
              </a:spcBef>
              <a:buNone/>
            </a:pPr>
            <a:r>
              <a:rPr lang="pl-PL" sz="1600" dirty="0"/>
              <a:t>Wykresy roczne pokazują zmienność stężeń PM10 w kolejnych latach pomiarowych. Widoczne są różnice zarówno w średnich wartościach, jak i w rozpiętości danych pomiędzy latami. W latach wcześniejszych częściej występują wyższe wartości maksymalne, natomiast w latach nowszych obserwuje się niższe średnie poziomy stężenia. Zmienność czasowa uzasadnia porównanie badanych okresów oraz analizę zmian jakości powietrza w Polsce.</a:t>
            </a:r>
          </a:p>
          <a:p>
            <a:pPr marL="0" indent="0">
              <a:spcBef>
                <a:spcPts val="100"/>
              </a:spcBef>
              <a:buNone/>
            </a:pPr>
            <a:endParaRPr lang="pl-PL" sz="1600" b="1" dirty="0"/>
          </a:p>
          <a:p>
            <a:pPr marL="0" indent="0">
              <a:spcBef>
                <a:spcPts val="100"/>
              </a:spcBef>
              <a:buNone/>
            </a:pPr>
            <a:r>
              <a:rPr lang="pl-PL" sz="1600" b="1" dirty="0"/>
              <a:t>Wykres QQ (porównanie z rozkładem normalnym)</a:t>
            </a:r>
          </a:p>
          <a:p>
            <a:pPr marL="0" indent="0">
              <a:spcBef>
                <a:spcPts val="100"/>
              </a:spcBef>
              <a:buNone/>
            </a:pPr>
            <a:r>
              <a:rPr lang="pl-PL" sz="1600" dirty="0"/>
              <a:t>Wykres QQ służy do oceny zgodności rozkładu danych z rozkładem normalnym. Punkty nie układają się idealnie wzdłuż linii odniesienia, szczególnie w górnej części wykresu, co wskazuje na odchylenia od normalności oraz obecność wartości ekstremalnych. Jest to typowe dla danych środowiskowych, takich jak stężenia PM10. W związku z tym w metodach </a:t>
            </a:r>
            <a:r>
              <a:rPr lang="pl-PL" sz="1600" dirty="0" err="1"/>
              <a:t>geostatystycznych</a:t>
            </a:r>
            <a:r>
              <a:rPr lang="pl-PL" sz="1600" dirty="0"/>
              <a:t> (np. Kriging) konieczne jest stosowanie transformacji danych, aby poprawić własności statystyczne rozkładu.</a:t>
            </a:r>
          </a:p>
          <a:p>
            <a:pPr marL="0" indent="0">
              <a:spcBef>
                <a:spcPts val="100"/>
              </a:spcBef>
              <a:buNone/>
            </a:pPr>
            <a:endParaRPr lang="pl-PL" sz="1600" dirty="0"/>
          </a:p>
          <a:p>
            <a:pPr marL="0" indent="0">
              <a:spcBef>
                <a:spcPts val="100"/>
              </a:spcBef>
              <a:buNone/>
            </a:pPr>
            <a:r>
              <a:rPr lang="pl-PL" sz="1600" b="1" dirty="0"/>
              <a:t>Wnioski z analizy danych wejściowych</a:t>
            </a:r>
          </a:p>
          <a:p>
            <a:pPr marL="0" indent="0">
              <a:spcBef>
                <a:spcPts val="100"/>
              </a:spcBef>
              <a:buNone/>
            </a:pPr>
            <a:r>
              <a:rPr lang="pl-PL" sz="1600" dirty="0"/>
              <a:t>Wstępna analiza danych PM10 wykazała, że stężenia charakteryzują się istotną zmiennością przestrzenną i czasową, asymetrią rozkładu oraz występowaniem wartości skrajnych. Dane nie spełniają w pełni założeń rozkładu normalnego, co ma znaczenie przy doborze metod interpolacji. Uzyskane wyniki uzasadniają zastosowanie metod IDW, RBFF oraz Kriging oraz konieczność oceny ich dokładności za pomocą walidacji krzyżowej i błędu RMS.</a:t>
            </a:r>
          </a:p>
          <a:p>
            <a:pPr marL="0" indent="0">
              <a:spcBef>
                <a:spcPts val="100"/>
              </a:spcBef>
              <a:buNone/>
            </a:pPr>
            <a:endParaRPr lang="pl-PL" sz="1600" dirty="0"/>
          </a:p>
        </p:txBody>
      </p:sp>
    </p:spTree>
    <p:extLst>
      <p:ext uri="{BB962C8B-B14F-4D97-AF65-F5344CB8AC3E}">
        <p14:creationId xmlns:p14="http://schemas.microsoft.com/office/powerpoint/2010/main" val="1314160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855A890-B60B-4670-9DC2-69DC05015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22480"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042549"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283"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Obraz 9" descr="Obraz zawierający tekst, zrzut ekranu, diagram, mapa&#10;&#10;Zawartość wygenerowana przez AI może być niepoprawna.">
            <a:extLst>
              <a:ext uri="{FF2B5EF4-FFF2-40B4-BE49-F238E27FC236}">
                <a16:creationId xmlns:a16="http://schemas.microsoft.com/office/drawing/2014/main" id="{CC08F69F-A9C8-B508-0C5F-773C6ED1E3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2347" y="883463"/>
            <a:ext cx="3567127" cy="2523744"/>
          </a:xfrm>
          <a:prstGeom prst="rect">
            <a:avLst/>
          </a:prstGeom>
        </p:spPr>
      </p:pic>
      <p:pic>
        <p:nvPicPr>
          <p:cNvPr id="22" name="Obraz 21" descr="Obraz zawierający tekst, zrzut ekranu, Wielobarwność, astronomia&#10;&#10;Zawartość wygenerowana przez AI może być niepoprawna.">
            <a:extLst>
              <a:ext uri="{FF2B5EF4-FFF2-40B4-BE49-F238E27FC236}">
                <a16:creationId xmlns:a16="http://schemas.microsoft.com/office/drawing/2014/main" id="{A18940C1-B22C-6C4B-F3F6-57CCDE1375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7572" y="1001935"/>
            <a:ext cx="3703320" cy="2286799"/>
          </a:xfrm>
          <a:prstGeom prst="rect">
            <a:avLst/>
          </a:prstGeom>
        </p:spPr>
      </p:pic>
      <p:pic>
        <p:nvPicPr>
          <p:cNvPr id="14" name="Obraz 13" descr="Obraz zawierający tekst, zrzut ekranu, diagram, oprogramowanie&#10;&#10;Zawartość wygenerowana przez AI może być niepoprawna.">
            <a:extLst>
              <a:ext uri="{FF2B5EF4-FFF2-40B4-BE49-F238E27FC236}">
                <a16:creationId xmlns:a16="http://schemas.microsoft.com/office/drawing/2014/main" id="{2867851B-EE53-ED7D-EE7A-480394088B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4251" y="3688075"/>
            <a:ext cx="3703320" cy="2277541"/>
          </a:xfrm>
          <a:prstGeom prst="rect">
            <a:avLst/>
          </a:prstGeom>
        </p:spPr>
      </p:pic>
      <p:pic>
        <p:nvPicPr>
          <p:cNvPr id="20" name="Obraz 19" descr="Obraz zawierający tekst, zrzut ekranu, diagram, oprogramowanie&#10;&#10;Zawartość wygenerowana przez AI może być niepoprawna.">
            <a:extLst>
              <a:ext uri="{FF2B5EF4-FFF2-40B4-BE49-F238E27FC236}">
                <a16:creationId xmlns:a16="http://schemas.microsoft.com/office/drawing/2014/main" id="{55D8946E-0E3A-A8EC-5993-C9E50F3059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2998" y="3688074"/>
            <a:ext cx="3703320" cy="2277541"/>
          </a:xfrm>
          <a:prstGeom prst="rect">
            <a:avLst/>
          </a:prstGeom>
        </p:spPr>
      </p:pic>
      <p:sp>
        <p:nvSpPr>
          <p:cNvPr id="24" name="Tytuł 1">
            <a:extLst>
              <a:ext uri="{FF2B5EF4-FFF2-40B4-BE49-F238E27FC236}">
                <a16:creationId xmlns:a16="http://schemas.microsoft.com/office/drawing/2014/main" id="{32DFC012-48BC-B297-DF0D-42BCB01CC8B7}"/>
              </a:ext>
            </a:extLst>
          </p:cNvPr>
          <p:cNvSpPr txBox="1">
            <a:spLocks/>
          </p:cNvSpPr>
          <p:nvPr/>
        </p:nvSpPr>
        <p:spPr>
          <a:xfrm>
            <a:off x="454467" y="2023110"/>
            <a:ext cx="2469624" cy="28460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300" dirty="0" err="1"/>
              <a:t>Kompozycja</a:t>
            </a:r>
            <a:r>
              <a:rPr lang="en-US" sz="2300" dirty="0"/>
              <a:t> </a:t>
            </a:r>
            <a:r>
              <a:rPr lang="en-US" sz="2300" dirty="0" err="1"/>
              <a:t>mapowa</a:t>
            </a:r>
            <a:r>
              <a:rPr lang="en-US" sz="2300" dirty="0"/>
              <a:t> I </a:t>
            </a:r>
            <a:r>
              <a:rPr lang="en-US" sz="2300" dirty="0" err="1"/>
              <a:t>metody</a:t>
            </a:r>
            <a:r>
              <a:rPr lang="en-US" sz="2300" dirty="0"/>
              <a:t> </a:t>
            </a:r>
            <a:r>
              <a:rPr lang="en-US" sz="2300" dirty="0" err="1"/>
              <a:t>interpolacji</a:t>
            </a:r>
            <a:r>
              <a:rPr lang="en-US" sz="2300" dirty="0"/>
              <a:t> - IDW</a:t>
            </a:r>
          </a:p>
        </p:txBody>
      </p:sp>
      <p:pic>
        <p:nvPicPr>
          <p:cNvPr id="28" name="Obraz 27" descr="Obraz zawierający tekst, zrzut ekranu, diagram, Wykres&#10;&#10;Zawartość wygenerowana przez AI może być niepoprawna.">
            <a:extLst>
              <a:ext uri="{FF2B5EF4-FFF2-40B4-BE49-F238E27FC236}">
                <a16:creationId xmlns:a16="http://schemas.microsoft.com/office/drawing/2014/main" id="{C866082F-35E3-C8ED-A55F-C52FE6F48CEC}"/>
              </a:ext>
            </a:extLst>
          </p:cNvPr>
          <p:cNvPicPr>
            <a:picLocks noChangeAspect="1"/>
          </p:cNvPicPr>
          <p:nvPr/>
        </p:nvPicPr>
        <p:blipFill>
          <a:blip r:embed="rId6"/>
          <a:stretch>
            <a:fillRect/>
          </a:stretch>
        </p:blipFill>
        <p:spPr>
          <a:xfrm>
            <a:off x="561108" y="465474"/>
            <a:ext cx="3181876" cy="1960550"/>
          </a:xfrm>
          <a:prstGeom prst="rect">
            <a:avLst/>
          </a:prstGeom>
        </p:spPr>
      </p:pic>
    </p:spTree>
    <p:extLst>
      <p:ext uri="{BB962C8B-B14F-4D97-AF65-F5344CB8AC3E}">
        <p14:creationId xmlns:p14="http://schemas.microsoft.com/office/powerpoint/2010/main" val="826038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C6EA5BF-D875-1D7A-FFDD-8D5E5DF9AF8B}"/>
              </a:ext>
            </a:extLst>
          </p:cNvPr>
          <p:cNvSpPr>
            <a:spLocks noGrp="1"/>
          </p:cNvSpPr>
          <p:nvPr>
            <p:ph type="title"/>
          </p:nvPr>
        </p:nvSpPr>
        <p:spPr/>
        <p:txBody>
          <a:bodyPr>
            <a:normAutofit/>
          </a:bodyPr>
          <a:lstStyle/>
          <a:p>
            <a:r>
              <a:rPr lang="pl-PL" sz="3200" dirty="0">
                <a:solidFill>
                  <a:srgbClr val="000000"/>
                </a:solidFill>
                <a:ea typeface="Times New Roman" panose="02020603050405020304" pitchFamily="18" charset="0"/>
              </a:rPr>
              <a:t>Krótka charakterystyka metody i błędu interpolacji</a:t>
            </a:r>
            <a:endParaRPr lang="pl-PL" sz="3200" dirty="0"/>
          </a:p>
        </p:txBody>
      </p:sp>
      <p:sp>
        <p:nvSpPr>
          <p:cNvPr id="6" name="pole tekstowe 5">
            <a:extLst>
              <a:ext uri="{FF2B5EF4-FFF2-40B4-BE49-F238E27FC236}">
                <a16:creationId xmlns:a16="http://schemas.microsoft.com/office/drawing/2014/main" id="{2A25F4BC-8654-4D23-ED15-1B83D28FBE88}"/>
              </a:ext>
            </a:extLst>
          </p:cNvPr>
          <p:cNvSpPr txBox="1"/>
          <p:nvPr/>
        </p:nvSpPr>
        <p:spPr>
          <a:xfrm>
            <a:off x="838200" y="1358606"/>
            <a:ext cx="11074400" cy="5509200"/>
          </a:xfrm>
          <a:prstGeom prst="rect">
            <a:avLst/>
          </a:prstGeom>
          <a:noFill/>
        </p:spPr>
        <p:txBody>
          <a:bodyPr wrap="square" rtlCol="0">
            <a:spAutoFit/>
          </a:bodyPr>
          <a:lstStyle/>
          <a:p>
            <a:r>
              <a:rPr lang="en-US" sz="1600" b="1" dirty="0" err="1"/>
              <a:t>Metoda</a:t>
            </a:r>
            <a:r>
              <a:rPr lang="en-US" sz="1600" b="1" dirty="0"/>
              <a:t> </a:t>
            </a:r>
            <a:r>
              <a:rPr lang="en-US" sz="1600" b="1" dirty="0" err="1"/>
              <a:t>interpolacji</a:t>
            </a:r>
            <a:r>
              <a:rPr lang="en-US" sz="1600" b="1" dirty="0"/>
              <a:t> IDW (Inverse Distance Weighting)</a:t>
            </a:r>
            <a:endParaRPr lang="pl-PL" sz="1600" dirty="0"/>
          </a:p>
          <a:p>
            <a:r>
              <a:rPr lang="pl-PL" sz="1600" dirty="0"/>
              <a:t>Interpolację stężeń pyłu PM10 wykonano metodą deterministyczną </a:t>
            </a:r>
            <a:r>
              <a:rPr lang="pl-PL" sz="1600" b="1" dirty="0"/>
              <a:t>IDW (</a:t>
            </a:r>
            <a:r>
              <a:rPr lang="pl-PL" sz="1600" b="1" dirty="0" err="1"/>
              <a:t>Inverse</a:t>
            </a:r>
            <a:r>
              <a:rPr lang="pl-PL" sz="1600" b="1" dirty="0"/>
              <a:t> </a:t>
            </a:r>
            <a:r>
              <a:rPr lang="pl-PL" sz="1600" b="1" dirty="0" err="1"/>
              <a:t>Distance</a:t>
            </a:r>
            <a:r>
              <a:rPr lang="pl-PL" sz="1600" b="1" dirty="0"/>
              <a:t> </a:t>
            </a:r>
            <a:r>
              <a:rPr lang="pl-PL" sz="1600" b="1" dirty="0" err="1"/>
              <a:t>Weighting</a:t>
            </a:r>
            <a:r>
              <a:rPr lang="pl-PL" sz="1600" b="1" dirty="0"/>
              <a:t>)</a:t>
            </a:r>
            <a:r>
              <a:rPr lang="pl-PL" sz="1600" dirty="0"/>
              <a:t>, która zakłada, że wpływ punktów pomiarowych na wartość interpolowaną maleje wraz z odległością. Najbliższe stacje mają największy udział w obliczeniu wartości w danym miejscu, natomiast punkty położone dalej wpływają słabiej.</a:t>
            </a:r>
          </a:p>
          <a:p>
            <a:r>
              <a:rPr lang="pl-PL" sz="1600" dirty="0"/>
              <a:t>Metoda IDW jest szczególnie przydatna w sytuacji, gdy dane wykazują lokalną zmienność przestrzenną, a rozmieszczenie stacji pomiarowych jest stosunkowo równomierne. Parametrem kontrolującym wagę odległości jest współczynnik </a:t>
            </a:r>
            <a:r>
              <a:rPr lang="pl-PL" sz="1600" b="1" dirty="0"/>
              <a:t>Power</a:t>
            </a:r>
            <a:r>
              <a:rPr lang="pl-PL" sz="1600" dirty="0"/>
              <a:t> – im wyższa jego wartość, tym silniej podkreślane są lokalne ekstremalne wartości.</a:t>
            </a:r>
          </a:p>
          <a:p>
            <a:r>
              <a:rPr lang="pl-PL" sz="1600" b="1" dirty="0"/>
              <a:t>Dobór parametrów metody IDW</a:t>
            </a:r>
            <a:endParaRPr lang="pl-PL" sz="1600" dirty="0"/>
          </a:p>
          <a:p>
            <a:r>
              <a:rPr lang="pl-PL" sz="1600" dirty="0"/>
              <a:t>W celu wyboru optymalnego wariantu przeprowadzono interpolację dla trzech konfiguracji parametru Power oraz liczby sąsiadów:</a:t>
            </a:r>
          </a:p>
          <a:p>
            <a:pPr marL="742950" lvl="1" indent="-285750">
              <a:buFont typeface="Arial" panose="020B0604020202020204" pitchFamily="34" charset="0"/>
              <a:buChar char="•"/>
            </a:pPr>
            <a:r>
              <a:rPr lang="pl-PL" sz="1600" b="1" dirty="0"/>
              <a:t>Power = 1 (5–8 sąsiadów)</a:t>
            </a:r>
            <a:r>
              <a:rPr lang="pl-PL" sz="1600" dirty="0"/>
              <a:t> – wynik zbyt wygładzony, mniejsze zróżnicowanie lokalne</a:t>
            </a:r>
          </a:p>
          <a:p>
            <a:pPr marL="742950" lvl="1" indent="-285750">
              <a:buFont typeface="Arial" panose="020B0604020202020204" pitchFamily="34" charset="0"/>
              <a:buChar char="•"/>
            </a:pPr>
            <a:r>
              <a:rPr lang="pl-PL" sz="1600" b="1" dirty="0"/>
              <a:t>Power = 2 (10–15 sąsiadów)</a:t>
            </a:r>
            <a:r>
              <a:rPr lang="pl-PL" sz="1600" dirty="0"/>
              <a:t> – najlepszy kompromis pomiędzy wygładzeniem a zachowaniem lokalnych zmian</a:t>
            </a:r>
          </a:p>
          <a:p>
            <a:pPr marL="742950" lvl="1" indent="-285750">
              <a:buFont typeface="Arial" panose="020B0604020202020204" pitchFamily="34" charset="0"/>
              <a:buChar char="•"/>
            </a:pPr>
            <a:r>
              <a:rPr lang="pl-PL" sz="1600" b="1" dirty="0"/>
              <a:t>Power = 3 (15–20 sąsiadów)</a:t>
            </a:r>
            <a:r>
              <a:rPr lang="pl-PL" sz="1600" dirty="0"/>
              <a:t> – nadmierne lokalne wahania i efekt „plam” wokół punktów</a:t>
            </a:r>
          </a:p>
          <a:p>
            <a:r>
              <a:rPr lang="pl-PL" sz="1600" dirty="0"/>
              <a:t>Za najbardziej poprawny wariant przyjęto konfigurację </a:t>
            </a:r>
            <a:r>
              <a:rPr lang="pl-PL" sz="1600" b="1" dirty="0"/>
              <a:t>Power = 2 oraz 10–15 sąsiadów</a:t>
            </a:r>
            <a:r>
              <a:rPr lang="pl-PL" sz="1600" dirty="0"/>
              <a:t>, która dawała najbardziej realistyczną powierzchnię stężeń PM10.</a:t>
            </a:r>
          </a:p>
          <a:p>
            <a:r>
              <a:rPr lang="pl-PL" sz="1600" b="1" dirty="0"/>
              <a:t>Błąd interpolacji (walidacja krzyżowa)</a:t>
            </a:r>
            <a:endParaRPr lang="pl-PL" sz="1600" dirty="0"/>
          </a:p>
          <a:p>
            <a:r>
              <a:rPr lang="pl-PL" sz="1600" dirty="0"/>
              <a:t>Dokładność interpolacji oceniono na podstawie walidacji krzyżowej i wartości błędu </a:t>
            </a:r>
            <a:r>
              <a:rPr lang="pl-PL" sz="1600" b="1" dirty="0"/>
              <a:t>RMS (Root </a:t>
            </a:r>
            <a:r>
              <a:rPr lang="pl-PL" sz="1600" b="1" dirty="0" err="1"/>
              <a:t>Mean</a:t>
            </a:r>
            <a:r>
              <a:rPr lang="pl-PL" sz="1600" b="1" dirty="0"/>
              <a:t> </a:t>
            </a:r>
            <a:r>
              <a:rPr lang="pl-PL" sz="1600" b="1" dirty="0" err="1"/>
              <a:t>Square</a:t>
            </a:r>
            <a:r>
              <a:rPr lang="pl-PL" sz="1600" b="1" dirty="0"/>
              <a:t> Error)</a:t>
            </a:r>
            <a:r>
              <a:rPr lang="pl-PL" sz="1600" dirty="0"/>
              <a:t>. Wartość RMS informuje o średnim odchyleniu wartości prognozowanych od wartości rzeczywistych w punktach pomiarowych.</a:t>
            </a:r>
          </a:p>
          <a:p>
            <a:r>
              <a:rPr lang="pl-PL" sz="1600" dirty="0"/>
              <a:t>Najniższy błąd RMS uzyskano dla wariantu </a:t>
            </a:r>
            <a:r>
              <a:rPr lang="pl-PL" sz="1600" b="1" dirty="0"/>
              <a:t>Power = 2</a:t>
            </a:r>
            <a:r>
              <a:rPr lang="pl-PL" sz="1600" dirty="0"/>
              <a:t>, dlatego został on przyjęty jako wynik końcowy metody IDW w analizie stężeń PM10.</a:t>
            </a:r>
          </a:p>
          <a:p>
            <a:endParaRPr lang="pl-PL" sz="1600" dirty="0"/>
          </a:p>
        </p:txBody>
      </p:sp>
    </p:spTree>
    <p:extLst>
      <p:ext uri="{BB962C8B-B14F-4D97-AF65-F5344CB8AC3E}">
        <p14:creationId xmlns:p14="http://schemas.microsoft.com/office/powerpoint/2010/main" val="3792662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1">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82E970C-6FDB-7F6C-8492-252F90F92175}"/>
              </a:ext>
            </a:extLst>
          </p:cNvPr>
          <p:cNvSpPr>
            <a:spLocks noGrp="1"/>
          </p:cNvSpPr>
          <p:nvPr>
            <p:ph type="title"/>
          </p:nvPr>
        </p:nvSpPr>
        <p:spPr>
          <a:xfrm>
            <a:off x="1113810" y="2825248"/>
            <a:ext cx="4036334" cy="2387600"/>
          </a:xfrm>
        </p:spPr>
        <p:txBody>
          <a:bodyPr vert="horz" lIns="91440" tIns="45720" rIns="91440" bIns="45720" rtlCol="0" anchor="t">
            <a:normAutofit/>
          </a:bodyPr>
          <a:lstStyle/>
          <a:p>
            <a:r>
              <a:rPr lang="en-US" sz="3400" kern="1200">
                <a:solidFill>
                  <a:schemeClr val="tx1"/>
                </a:solidFill>
                <a:latin typeface="+mj-lt"/>
                <a:ea typeface="+mj-ea"/>
                <a:cs typeface="+mj-cs"/>
              </a:rPr>
              <a:t>Kompozycja mapowa I metody interpolacji - IDW, po zmianie parametrów analizy, </a:t>
            </a:r>
          </a:p>
        </p:txBody>
      </p:sp>
      <p:grpSp>
        <p:nvGrpSpPr>
          <p:cNvPr id="37" name="Group 2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25" name="Rectangle 2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2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Symbol zastępczy zawartości 16" descr="Obraz zawierający tekst, diagram, zrzut ekranu, mapa&#10;&#10;Zawartość wygenerowana przez AI może być niepoprawna.">
            <a:extLst>
              <a:ext uri="{FF2B5EF4-FFF2-40B4-BE49-F238E27FC236}">
                <a16:creationId xmlns:a16="http://schemas.microsoft.com/office/drawing/2014/main" id="{C8038605-8CBB-7FBE-0B6C-B0F06667F6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22492" y="1433311"/>
            <a:ext cx="5536001" cy="3916722"/>
          </a:xfrm>
          <a:prstGeom prst="rect">
            <a:avLst/>
          </a:prstGeom>
        </p:spPr>
      </p:pic>
      <p:sp>
        <p:nvSpPr>
          <p:cNvPr id="39" name="Rectangle 3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817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D047324-CD3B-340D-59EF-917E37DE581E}"/>
              </a:ext>
            </a:extLst>
          </p:cNvPr>
          <p:cNvSpPr>
            <a:spLocks noGrp="1"/>
          </p:cNvSpPr>
          <p:nvPr>
            <p:ph type="title"/>
          </p:nvPr>
        </p:nvSpPr>
        <p:spPr/>
        <p:txBody>
          <a:bodyPr>
            <a:normAutofit/>
          </a:bodyPr>
          <a:lstStyle/>
          <a:p>
            <a:r>
              <a:rPr lang="pl-PL" sz="3200" dirty="0">
                <a:solidFill>
                  <a:srgbClr val="000000"/>
                </a:solidFill>
                <a:ea typeface="Times New Roman" panose="02020603050405020304" pitchFamily="18" charset="0"/>
              </a:rPr>
              <a:t>Krótki opis zmienianych parametrów i błędu interpolacji</a:t>
            </a:r>
            <a:endParaRPr lang="pl-PL" sz="3200" dirty="0"/>
          </a:p>
        </p:txBody>
      </p:sp>
      <p:sp>
        <p:nvSpPr>
          <p:cNvPr id="5" name="pole tekstowe 4">
            <a:extLst>
              <a:ext uri="{FF2B5EF4-FFF2-40B4-BE49-F238E27FC236}">
                <a16:creationId xmlns:a16="http://schemas.microsoft.com/office/drawing/2014/main" id="{8423057F-A31C-DFD3-A9AE-6884D0027926}"/>
              </a:ext>
            </a:extLst>
          </p:cNvPr>
          <p:cNvSpPr txBox="1"/>
          <p:nvPr/>
        </p:nvSpPr>
        <p:spPr>
          <a:xfrm>
            <a:off x="838200" y="1690688"/>
            <a:ext cx="10515600" cy="3693319"/>
          </a:xfrm>
          <a:prstGeom prst="rect">
            <a:avLst/>
          </a:prstGeom>
          <a:noFill/>
        </p:spPr>
        <p:txBody>
          <a:bodyPr wrap="square" rtlCol="0">
            <a:spAutoFit/>
          </a:bodyPr>
          <a:lstStyle/>
          <a:p>
            <a:pPr algn="just"/>
            <a:r>
              <a:rPr lang="pl-PL" b="1" dirty="0"/>
              <a:t>Zmiana parametrów interpolacji</a:t>
            </a:r>
            <a:endParaRPr lang="pl-PL" dirty="0"/>
          </a:p>
          <a:p>
            <a:pPr algn="just"/>
            <a:r>
              <a:rPr lang="pl-PL" dirty="0"/>
              <a:t>W celu uzyskania optymalnego modelu przetestowano kilka wariantów parametru </a:t>
            </a:r>
            <a:r>
              <a:rPr lang="pl-PL" b="1" dirty="0"/>
              <a:t>Power</a:t>
            </a:r>
            <a:r>
              <a:rPr lang="pl-PL" dirty="0"/>
              <a:t> oraz liczby sąsiadów uwzględnianych w obliczeniach:</a:t>
            </a:r>
          </a:p>
          <a:p>
            <a:pPr lvl="0" algn="just"/>
            <a:r>
              <a:rPr lang="pl-PL" b="1" dirty="0"/>
              <a:t>Power = 2, 10–15 sąsiadów</a:t>
            </a:r>
            <a:r>
              <a:rPr lang="pl-PL" dirty="0"/>
              <a:t> – uzyskano najlepszy kompromis pomiędzy wygładzeniem a zachowaniem lokalnych zmian przestrzennych</a:t>
            </a:r>
          </a:p>
          <a:p>
            <a:pPr algn="just"/>
            <a:r>
              <a:rPr lang="pl-PL" dirty="0"/>
              <a:t>Za najbardziej poprawny wariant przyjęto konfigurację </a:t>
            </a:r>
            <a:r>
              <a:rPr lang="pl-PL" b="1" dirty="0"/>
              <a:t>Power = 2 oraz 10–15 sąsiadów</a:t>
            </a:r>
            <a:r>
              <a:rPr lang="pl-PL" dirty="0"/>
              <a:t>, ponieważ zapewniała najbardziej realistyczny rozkład stężeń PM10 na terenie Polski.</a:t>
            </a:r>
          </a:p>
          <a:p>
            <a:pPr algn="just"/>
            <a:r>
              <a:rPr lang="pl-PL" b="1" dirty="0"/>
              <a:t>Błąd interpolacji (walidacja krzyżowa)</a:t>
            </a:r>
            <a:endParaRPr lang="pl-PL" dirty="0"/>
          </a:p>
          <a:p>
            <a:pPr algn="just"/>
            <a:r>
              <a:rPr lang="pl-PL" dirty="0"/>
              <a:t>Dokładność metody oceniono na podstawie walidacji krzyżowej oraz wartości błędu </a:t>
            </a:r>
            <a:r>
              <a:rPr lang="pl-PL" b="1" dirty="0"/>
              <a:t>RMS (Root </a:t>
            </a:r>
            <a:r>
              <a:rPr lang="pl-PL" b="1" dirty="0" err="1"/>
              <a:t>Mean</a:t>
            </a:r>
            <a:r>
              <a:rPr lang="pl-PL" b="1" dirty="0"/>
              <a:t> </a:t>
            </a:r>
            <a:r>
              <a:rPr lang="pl-PL" b="1" dirty="0" err="1"/>
              <a:t>Square</a:t>
            </a:r>
            <a:r>
              <a:rPr lang="pl-PL" b="1" dirty="0"/>
              <a:t> Error)</a:t>
            </a:r>
            <a:r>
              <a:rPr lang="pl-PL" dirty="0"/>
              <a:t>. Błąd RMS określa średnie odchylenie wartości prognozowanych od wartości rzeczywistych w punktach pomiarowych.</a:t>
            </a:r>
          </a:p>
          <a:p>
            <a:pPr algn="just"/>
            <a:r>
              <a:rPr lang="pl-PL" dirty="0"/>
              <a:t>Najniższy błąd RMS uzyskano dla wariantu </a:t>
            </a:r>
            <a:r>
              <a:rPr lang="pl-PL" b="1" dirty="0"/>
              <a:t>Power = 2</a:t>
            </a:r>
            <a:r>
              <a:rPr lang="pl-PL" dirty="0"/>
              <a:t>, dlatego został on wykorzystany jako wynik końcowy interpolacji metodą IDW.</a:t>
            </a:r>
          </a:p>
        </p:txBody>
      </p:sp>
    </p:spTree>
    <p:extLst>
      <p:ext uri="{BB962C8B-B14F-4D97-AF65-F5344CB8AC3E}">
        <p14:creationId xmlns:p14="http://schemas.microsoft.com/office/powerpoint/2010/main" val="3938139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3669E8C-4B32-30B5-C918-8EA53F11517C}"/>
              </a:ext>
            </a:extLst>
          </p:cNvPr>
          <p:cNvSpPr>
            <a:spLocks noGrp="1"/>
          </p:cNvSpPr>
          <p:nvPr>
            <p:ph type="title"/>
          </p:nvPr>
        </p:nvSpPr>
        <p:spPr/>
        <p:txBody>
          <a:bodyPr>
            <a:normAutofit/>
          </a:bodyPr>
          <a:lstStyle/>
          <a:p>
            <a:r>
              <a:rPr lang="en-US" sz="3200" dirty="0" err="1"/>
              <a:t>Kompozycja</a:t>
            </a:r>
            <a:r>
              <a:rPr lang="en-US" sz="3200" dirty="0"/>
              <a:t> </a:t>
            </a:r>
            <a:r>
              <a:rPr lang="en-US" sz="3200" dirty="0" err="1"/>
              <a:t>mapowa</a:t>
            </a:r>
            <a:r>
              <a:rPr lang="en-US" sz="3200" dirty="0"/>
              <a:t> I </a:t>
            </a:r>
            <a:r>
              <a:rPr lang="en-US" sz="3200" dirty="0" err="1"/>
              <a:t>metody</a:t>
            </a:r>
            <a:r>
              <a:rPr lang="en-US" sz="3200" dirty="0"/>
              <a:t> </a:t>
            </a:r>
            <a:r>
              <a:rPr lang="en-US" sz="3200" dirty="0" err="1"/>
              <a:t>interpolacji</a:t>
            </a:r>
            <a:r>
              <a:rPr lang="en-US" sz="3200" dirty="0"/>
              <a:t> – </a:t>
            </a:r>
            <a:r>
              <a:rPr lang="pl-PL" sz="3200" dirty="0"/>
              <a:t>IDW dodatkowe analizowane lata 2021 i 2019 </a:t>
            </a:r>
          </a:p>
        </p:txBody>
      </p:sp>
      <p:pic>
        <p:nvPicPr>
          <p:cNvPr id="11" name="Symbol zastępczy zawartości 10" descr="Obraz zawierający tekst, mapa, diagram, zrzut ekranu&#10;&#10;Zawartość wygenerowana przez AI może być niepoprawna.">
            <a:extLst>
              <a:ext uri="{FF2B5EF4-FFF2-40B4-BE49-F238E27FC236}">
                <a16:creationId xmlns:a16="http://schemas.microsoft.com/office/drawing/2014/main" id="{16F04C03-7534-68DA-9DB8-E4D98FAC8DB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69344"/>
            <a:ext cx="5181600" cy="3663899"/>
          </a:xfrm>
        </p:spPr>
      </p:pic>
      <p:pic>
        <p:nvPicPr>
          <p:cNvPr id="13" name="Symbol zastępczy zawartości 12" descr="Obraz zawierający tekst, diagram, zrzut ekranu, mapa&#10;&#10;Zawartość wygenerowana przez AI może być niepoprawna.">
            <a:extLst>
              <a:ext uri="{FF2B5EF4-FFF2-40B4-BE49-F238E27FC236}">
                <a16:creationId xmlns:a16="http://schemas.microsoft.com/office/drawing/2014/main" id="{72F53772-9D55-B3FE-90FB-362FECCC96F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169344"/>
            <a:ext cx="5181600" cy="3663899"/>
          </a:xfrm>
        </p:spPr>
      </p:pic>
    </p:spTree>
    <p:extLst>
      <p:ext uri="{BB962C8B-B14F-4D97-AF65-F5344CB8AC3E}">
        <p14:creationId xmlns:p14="http://schemas.microsoft.com/office/powerpoint/2010/main" val="2992858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855A890-B60B-4670-9DC2-69DC05015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8B6D259E-FE01-E791-5BB7-93C0B5F6FD71}"/>
              </a:ext>
            </a:extLst>
          </p:cNvPr>
          <p:cNvSpPr>
            <a:spLocks noGrp="1"/>
          </p:cNvSpPr>
          <p:nvPr>
            <p:ph type="title"/>
          </p:nvPr>
        </p:nvSpPr>
        <p:spPr>
          <a:xfrm>
            <a:off x="454467" y="2023110"/>
            <a:ext cx="2469624" cy="2846070"/>
          </a:xfrm>
        </p:spPr>
        <p:txBody>
          <a:bodyPr vert="horz" lIns="91440" tIns="45720" rIns="91440" bIns="45720" rtlCol="0" anchor="ctr">
            <a:normAutofit/>
          </a:bodyPr>
          <a:lstStyle/>
          <a:p>
            <a:r>
              <a:rPr lang="en-US" sz="2300" dirty="0" err="1"/>
              <a:t>Kompozycja</a:t>
            </a:r>
            <a:r>
              <a:rPr lang="en-US" sz="2300" dirty="0"/>
              <a:t> </a:t>
            </a:r>
            <a:r>
              <a:rPr lang="en-US" sz="2300" dirty="0" err="1"/>
              <a:t>mapowa</a:t>
            </a:r>
            <a:r>
              <a:rPr lang="en-US" sz="2300" dirty="0"/>
              <a:t> II </a:t>
            </a:r>
            <a:r>
              <a:rPr lang="en-US" sz="2300" dirty="0" err="1"/>
              <a:t>metody</a:t>
            </a:r>
            <a:r>
              <a:rPr lang="en-US" sz="2300" dirty="0"/>
              <a:t> </a:t>
            </a:r>
            <a:r>
              <a:rPr lang="en-US" sz="2300" dirty="0" err="1"/>
              <a:t>interpolacji</a:t>
            </a:r>
            <a:r>
              <a:rPr lang="en-US" sz="2300" dirty="0"/>
              <a:t> - RBF</a:t>
            </a:r>
            <a:r>
              <a:rPr lang="pl-PL" sz="2300" dirty="0"/>
              <a:t>F</a:t>
            </a:r>
            <a:br>
              <a:rPr lang="en-US" sz="2300" dirty="0"/>
            </a:br>
            <a:endParaRPr lang="en-US" sz="2300" dirty="0"/>
          </a:p>
        </p:txBody>
      </p:sp>
      <p:sp>
        <p:nvSpPr>
          <p:cNvPr id="24" name="Rectangle 2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22480"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042549"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283"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Symbol zastępczy zawartości 8" descr="Obraz zawierający tekst, zrzut ekranu, diagram, mapa&#10;&#10;Zawartość wygenerowana przez AI może być niepoprawna.">
            <a:extLst>
              <a:ext uri="{FF2B5EF4-FFF2-40B4-BE49-F238E27FC236}">
                <a16:creationId xmlns:a16="http://schemas.microsoft.com/office/drawing/2014/main" id="{F465E227-53B1-6B00-5894-904D97BA57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22347" y="883463"/>
            <a:ext cx="3567127" cy="2523744"/>
          </a:xfrm>
          <a:prstGeom prst="rect">
            <a:avLst/>
          </a:prstGeom>
        </p:spPr>
      </p:pic>
      <p:pic>
        <p:nvPicPr>
          <p:cNvPr id="13" name="Obraz 12" descr="Obraz zawierający tekst, zrzut ekranu, diagram, oprogramowanie&#10;&#10;Zawartość wygenerowana przez AI może być niepoprawna.">
            <a:extLst>
              <a:ext uri="{FF2B5EF4-FFF2-40B4-BE49-F238E27FC236}">
                <a16:creationId xmlns:a16="http://schemas.microsoft.com/office/drawing/2014/main" id="{2BEFB6E0-18C2-659E-0401-25EDF2E68F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4251" y="3674186"/>
            <a:ext cx="3703320" cy="2305316"/>
          </a:xfrm>
          <a:prstGeom prst="rect">
            <a:avLst/>
          </a:prstGeom>
        </p:spPr>
      </p:pic>
      <p:pic>
        <p:nvPicPr>
          <p:cNvPr id="11" name="Obraz 10" descr="Obraz zawierający tekst, zrzut ekranu, diagram, oprogramowanie&#10;&#10;Zawartość wygenerowana przez AI może być niepoprawna.">
            <a:extLst>
              <a:ext uri="{FF2B5EF4-FFF2-40B4-BE49-F238E27FC236}">
                <a16:creationId xmlns:a16="http://schemas.microsoft.com/office/drawing/2014/main" id="{766C8778-AB2C-45DC-0BAE-EF02783A08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4213" y="901276"/>
            <a:ext cx="3703320" cy="2286799"/>
          </a:xfrm>
          <a:prstGeom prst="rect">
            <a:avLst/>
          </a:prstGeom>
        </p:spPr>
      </p:pic>
      <p:pic>
        <p:nvPicPr>
          <p:cNvPr id="17" name="Obraz 16" descr="Obraz zawierający tekst, zrzut ekranu, oprogramowanie, System operacyjny&#10;&#10;Zawartość wygenerowana przez AI może być niepoprawna.">
            <a:extLst>
              <a:ext uri="{FF2B5EF4-FFF2-40B4-BE49-F238E27FC236}">
                <a16:creationId xmlns:a16="http://schemas.microsoft.com/office/drawing/2014/main" id="{E183574B-D6C3-3CA8-FAB5-A6562025F4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2998" y="3688074"/>
            <a:ext cx="3703320" cy="2277541"/>
          </a:xfrm>
          <a:prstGeom prst="rect">
            <a:avLst/>
          </a:prstGeom>
        </p:spPr>
      </p:pic>
      <p:pic>
        <p:nvPicPr>
          <p:cNvPr id="19" name="Obraz 18" descr="Obraz zawierający tekst, zrzut ekranu, diagram, Wykres&#10;&#10;Zawartość wygenerowana przez AI może być niepoprawna.">
            <a:extLst>
              <a:ext uri="{FF2B5EF4-FFF2-40B4-BE49-F238E27FC236}">
                <a16:creationId xmlns:a16="http://schemas.microsoft.com/office/drawing/2014/main" id="{BFDD9F60-9CC0-B9D4-C750-FAC723F15F34}"/>
              </a:ext>
            </a:extLst>
          </p:cNvPr>
          <p:cNvPicPr>
            <a:picLocks noChangeAspect="1"/>
          </p:cNvPicPr>
          <p:nvPr/>
        </p:nvPicPr>
        <p:blipFill>
          <a:blip r:embed="rId6"/>
          <a:stretch>
            <a:fillRect/>
          </a:stretch>
        </p:blipFill>
        <p:spPr>
          <a:xfrm>
            <a:off x="792271" y="506578"/>
            <a:ext cx="2665937" cy="1638757"/>
          </a:xfrm>
          <a:prstGeom prst="rect">
            <a:avLst/>
          </a:prstGeom>
        </p:spPr>
      </p:pic>
    </p:spTree>
    <p:extLst>
      <p:ext uri="{BB962C8B-B14F-4D97-AF65-F5344CB8AC3E}">
        <p14:creationId xmlns:p14="http://schemas.microsoft.com/office/powerpoint/2010/main" val="3659809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F3B0A08-F16F-97A1-9DD0-6337EEEABED5}"/>
              </a:ext>
            </a:extLst>
          </p:cNvPr>
          <p:cNvSpPr>
            <a:spLocks noGrp="1"/>
          </p:cNvSpPr>
          <p:nvPr>
            <p:ph type="title"/>
          </p:nvPr>
        </p:nvSpPr>
        <p:spPr/>
        <p:txBody>
          <a:bodyPr>
            <a:normAutofit/>
          </a:bodyPr>
          <a:lstStyle/>
          <a:p>
            <a:r>
              <a:rPr lang="pl-PL" sz="3200" dirty="0">
                <a:solidFill>
                  <a:srgbClr val="000000"/>
                </a:solidFill>
                <a:ea typeface="Times New Roman" panose="02020603050405020304" pitchFamily="18" charset="0"/>
              </a:rPr>
              <a:t>Krótka charakterystyka metody i błędu interpolacji</a:t>
            </a:r>
            <a:endParaRPr lang="pl-PL" sz="3200" dirty="0"/>
          </a:p>
        </p:txBody>
      </p:sp>
      <p:sp>
        <p:nvSpPr>
          <p:cNvPr id="4" name="pole tekstowe 3">
            <a:extLst>
              <a:ext uri="{FF2B5EF4-FFF2-40B4-BE49-F238E27FC236}">
                <a16:creationId xmlns:a16="http://schemas.microsoft.com/office/drawing/2014/main" id="{AB451D48-1FE4-6F33-469D-9115045874CC}"/>
              </a:ext>
            </a:extLst>
          </p:cNvPr>
          <p:cNvSpPr txBox="1"/>
          <p:nvPr/>
        </p:nvSpPr>
        <p:spPr>
          <a:xfrm>
            <a:off x="838200" y="1690688"/>
            <a:ext cx="10515600" cy="3693319"/>
          </a:xfrm>
          <a:prstGeom prst="rect">
            <a:avLst/>
          </a:prstGeom>
          <a:noFill/>
        </p:spPr>
        <p:txBody>
          <a:bodyPr wrap="square" rtlCol="0">
            <a:spAutoFit/>
          </a:bodyPr>
          <a:lstStyle/>
          <a:p>
            <a:pPr algn="just"/>
            <a:r>
              <a:rPr lang="en-US" b="1" dirty="0" err="1"/>
              <a:t>Metoda</a:t>
            </a:r>
            <a:r>
              <a:rPr lang="en-US" b="1" dirty="0"/>
              <a:t> </a:t>
            </a:r>
            <a:r>
              <a:rPr lang="en-US" b="1" dirty="0" err="1"/>
              <a:t>interpolacji</a:t>
            </a:r>
            <a:r>
              <a:rPr lang="en-US" b="1" dirty="0"/>
              <a:t> RBFF (Radial Basis Function)</a:t>
            </a:r>
            <a:endParaRPr lang="pl-PL" dirty="0"/>
          </a:p>
          <a:p>
            <a:pPr algn="just"/>
            <a:r>
              <a:rPr lang="pl-PL" dirty="0"/>
              <a:t>Drugą zastosowaną metodą interpolacji przestrzennej była metoda </a:t>
            </a:r>
            <a:r>
              <a:rPr lang="pl-PL" b="1" dirty="0"/>
              <a:t>radialnych funkcji bazowych (RBFF – </a:t>
            </a:r>
            <a:r>
              <a:rPr lang="pl-PL" b="1" dirty="0" err="1"/>
              <a:t>Radial</a:t>
            </a:r>
            <a:r>
              <a:rPr lang="pl-PL" b="1" dirty="0"/>
              <a:t> </a:t>
            </a:r>
            <a:r>
              <a:rPr lang="pl-PL" b="1" dirty="0" err="1"/>
              <a:t>Basis</a:t>
            </a:r>
            <a:r>
              <a:rPr lang="pl-PL" b="1" dirty="0"/>
              <a:t> </a:t>
            </a:r>
            <a:r>
              <a:rPr lang="pl-PL" b="1" dirty="0" err="1"/>
              <a:t>Functions</a:t>
            </a:r>
            <a:r>
              <a:rPr lang="pl-PL" b="1" dirty="0"/>
              <a:t>)</a:t>
            </a:r>
            <a:r>
              <a:rPr lang="pl-PL" dirty="0"/>
              <a:t>. Jest to metoda deterministyczna oparta na dopasowaniu gładkiej powierzchni przechodzącej przez punkty pomiarowe. Wartości interpolowane są obliczane na podstawie funkcji zależnej od odległości między punktami, która nadaje wagę każdej obserwacji.</a:t>
            </a:r>
          </a:p>
          <a:p>
            <a:pPr algn="just"/>
            <a:r>
              <a:rPr lang="pl-PL" dirty="0"/>
              <a:t>Metoda RBFF umożliwia uzyskanie bardziej płynnych powierzchni niż IDW, a jej wynik w dużym stopniu zależy od doboru funkcji jądra (</a:t>
            </a:r>
            <a:r>
              <a:rPr lang="pl-PL" dirty="0" err="1"/>
              <a:t>Kernel</a:t>
            </a:r>
            <a:r>
              <a:rPr lang="pl-PL" dirty="0"/>
              <a:t> </a:t>
            </a:r>
            <a:r>
              <a:rPr lang="pl-PL" dirty="0" err="1"/>
              <a:t>Function</a:t>
            </a:r>
            <a:r>
              <a:rPr lang="pl-PL" dirty="0"/>
              <a:t>), która kontroluje stopień wygładzenia oraz lokalny wpływ punktów pomiarowych.</a:t>
            </a:r>
          </a:p>
          <a:p>
            <a:pPr algn="just"/>
            <a:r>
              <a:rPr lang="pl-PL" b="1" dirty="0"/>
              <a:t>Dobór parametrów metody RBFF</a:t>
            </a:r>
            <a:endParaRPr lang="pl-PL" dirty="0"/>
          </a:p>
          <a:p>
            <a:pPr algn="just"/>
            <a:r>
              <a:rPr lang="pl-PL" dirty="0"/>
              <a:t>W analizie przetestowano kilka wariantów funkcji jądra, m.in.:</a:t>
            </a:r>
          </a:p>
          <a:p>
            <a:pPr marL="742950" lvl="1" indent="-285750" algn="just">
              <a:buFont typeface="Arial" panose="020B0604020202020204" pitchFamily="34" charset="0"/>
              <a:buChar char="•"/>
            </a:pPr>
            <a:r>
              <a:rPr lang="pl-PL" dirty="0" err="1"/>
              <a:t>Completely</a:t>
            </a:r>
            <a:r>
              <a:rPr lang="pl-PL" dirty="0"/>
              <a:t> </a:t>
            </a:r>
            <a:r>
              <a:rPr lang="pl-PL" dirty="0" err="1"/>
              <a:t>Regularized</a:t>
            </a:r>
            <a:r>
              <a:rPr lang="pl-PL" dirty="0"/>
              <a:t> </a:t>
            </a:r>
            <a:r>
              <a:rPr lang="pl-PL" dirty="0" err="1"/>
              <a:t>Spline</a:t>
            </a:r>
            <a:endParaRPr lang="pl-PL" dirty="0"/>
          </a:p>
          <a:p>
            <a:pPr marL="742950" lvl="1" indent="-285750" algn="just">
              <a:buFont typeface="Arial" panose="020B0604020202020204" pitchFamily="34" charset="0"/>
              <a:buChar char="•"/>
            </a:pPr>
            <a:r>
              <a:rPr lang="pl-PL" dirty="0" err="1"/>
              <a:t>Thin</a:t>
            </a:r>
            <a:r>
              <a:rPr lang="pl-PL" dirty="0"/>
              <a:t> </a:t>
            </a:r>
            <a:r>
              <a:rPr lang="pl-PL" dirty="0" err="1"/>
              <a:t>Plate</a:t>
            </a:r>
            <a:r>
              <a:rPr lang="pl-PL" dirty="0"/>
              <a:t> </a:t>
            </a:r>
            <a:r>
              <a:rPr lang="pl-PL" dirty="0" err="1"/>
              <a:t>Spline</a:t>
            </a:r>
            <a:endParaRPr lang="pl-PL" dirty="0"/>
          </a:p>
          <a:p>
            <a:pPr marL="742950" lvl="1" indent="-285750" algn="just">
              <a:buFont typeface="Arial" panose="020B0604020202020204" pitchFamily="34" charset="0"/>
              <a:buChar char="•"/>
            </a:pPr>
            <a:r>
              <a:rPr lang="pl-PL" dirty="0" err="1"/>
              <a:t>Spline</a:t>
            </a:r>
            <a:r>
              <a:rPr lang="pl-PL" dirty="0"/>
              <a:t> with </a:t>
            </a:r>
            <a:r>
              <a:rPr lang="pl-PL" dirty="0" err="1"/>
              <a:t>Tension</a:t>
            </a:r>
            <a:endParaRPr lang="pl-PL" dirty="0"/>
          </a:p>
        </p:txBody>
      </p:sp>
    </p:spTree>
    <p:extLst>
      <p:ext uri="{BB962C8B-B14F-4D97-AF65-F5344CB8AC3E}">
        <p14:creationId xmlns:p14="http://schemas.microsoft.com/office/powerpoint/2010/main" val="3461781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0049746-D2CC-FBE7-5260-29588ECE585C}"/>
              </a:ext>
            </a:extLst>
          </p:cNvPr>
          <p:cNvSpPr>
            <a:spLocks noGrp="1"/>
          </p:cNvSpPr>
          <p:nvPr>
            <p:ph type="title"/>
          </p:nvPr>
        </p:nvSpPr>
        <p:spPr>
          <a:xfrm>
            <a:off x="1113810" y="2825248"/>
            <a:ext cx="4036334" cy="2387600"/>
          </a:xfrm>
        </p:spPr>
        <p:txBody>
          <a:bodyPr vert="horz" lIns="91440" tIns="45720" rIns="91440" bIns="45720" rtlCol="0" anchor="t">
            <a:normAutofit/>
          </a:bodyPr>
          <a:lstStyle/>
          <a:p>
            <a:r>
              <a:rPr lang="en-US" sz="3000" kern="1200">
                <a:solidFill>
                  <a:schemeClr val="tx1"/>
                </a:solidFill>
                <a:latin typeface="+mj-lt"/>
                <a:ea typeface="+mj-ea"/>
                <a:cs typeface="+mj-cs"/>
              </a:rPr>
              <a:t>Kompozycja mapowa II metody interpolacji, po zmianie parametrów analizy</a:t>
            </a:r>
            <a:br>
              <a:rPr lang="en-US" sz="3000" kern="1200">
                <a:solidFill>
                  <a:schemeClr val="tx1"/>
                </a:solidFill>
                <a:latin typeface="+mj-lt"/>
                <a:ea typeface="+mj-ea"/>
                <a:cs typeface="+mj-cs"/>
              </a:rPr>
            </a:br>
            <a:endParaRPr lang="en-US" sz="3000" kern="1200">
              <a:solidFill>
                <a:schemeClr val="tx1"/>
              </a:solidFill>
              <a:latin typeface="+mj-lt"/>
              <a:ea typeface="+mj-ea"/>
              <a:cs typeface="+mj-cs"/>
            </a:endParaRP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ymbol zastępczy zawartości 4" descr="Obraz zawierający tekst, zrzut ekranu, diagram, mapa&#10;&#10;Zawartość wygenerowana przez AI może być niepoprawna.">
            <a:extLst>
              <a:ext uri="{FF2B5EF4-FFF2-40B4-BE49-F238E27FC236}">
                <a16:creationId xmlns:a16="http://schemas.microsoft.com/office/drawing/2014/main" id="{F81F0F17-9B14-EBA2-9D5F-7C368946C0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22492" y="1433311"/>
            <a:ext cx="5536001" cy="3916722"/>
          </a:xfrm>
          <a:prstGeom prst="rect">
            <a:avLst/>
          </a:prstGeom>
        </p:spPr>
      </p:pic>
      <p:sp>
        <p:nvSpPr>
          <p:cNvPr id="19" name="Rectangle 1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7319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ytuł 3">
            <a:extLst>
              <a:ext uri="{FF2B5EF4-FFF2-40B4-BE49-F238E27FC236}">
                <a16:creationId xmlns:a16="http://schemas.microsoft.com/office/drawing/2014/main" id="{D33D2E32-2F4A-D3D1-A949-AE0D9C555C05}"/>
              </a:ext>
            </a:extLst>
          </p:cNvPr>
          <p:cNvSpPr>
            <a:spLocks noGrp="1"/>
          </p:cNvSpPr>
          <p:nvPr>
            <p:ph type="title"/>
          </p:nvPr>
        </p:nvSpPr>
        <p:spPr/>
        <p:txBody>
          <a:bodyPr>
            <a:normAutofit/>
          </a:bodyPr>
          <a:lstStyle/>
          <a:p>
            <a:r>
              <a:rPr lang="pl-PL" sz="3200" dirty="0">
                <a:solidFill>
                  <a:srgbClr val="000000"/>
                </a:solidFill>
                <a:ea typeface="Times New Roman" panose="02020603050405020304" pitchFamily="18" charset="0"/>
              </a:rPr>
              <a:t>Krótki opis zmienianych parametrów i błędu interpolacji</a:t>
            </a:r>
            <a:endParaRPr lang="pl-PL" sz="3200" dirty="0"/>
          </a:p>
        </p:txBody>
      </p:sp>
      <p:sp>
        <p:nvSpPr>
          <p:cNvPr id="7" name="pole tekstowe 6">
            <a:extLst>
              <a:ext uri="{FF2B5EF4-FFF2-40B4-BE49-F238E27FC236}">
                <a16:creationId xmlns:a16="http://schemas.microsoft.com/office/drawing/2014/main" id="{9E1A59F2-5AB2-FE29-FB73-A25DE21CE24C}"/>
              </a:ext>
            </a:extLst>
          </p:cNvPr>
          <p:cNvSpPr txBox="1"/>
          <p:nvPr/>
        </p:nvSpPr>
        <p:spPr>
          <a:xfrm>
            <a:off x="838200" y="1690688"/>
            <a:ext cx="10515600" cy="4247317"/>
          </a:xfrm>
          <a:prstGeom prst="rect">
            <a:avLst/>
          </a:prstGeom>
          <a:noFill/>
        </p:spPr>
        <p:txBody>
          <a:bodyPr wrap="square" rtlCol="0">
            <a:spAutoFit/>
          </a:bodyPr>
          <a:lstStyle/>
          <a:p>
            <a:pPr algn="just"/>
            <a:r>
              <a:rPr lang="pl-PL" b="1" dirty="0"/>
              <a:t>Zmiana parametrów interpolacji</a:t>
            </a:r>
            <a:endParaRPr lang="pl-PL" dirty="0"/>
          </a:p>
          <a:p>
            <a:pPr algn="just"/>
            <a:r>
              <a:rPr lang="pl-PL" dirty="0"/>
              <a:t>Za najbardziej poprawny wariant przyjęto konfigurację zapewniającą stabilny rozkład przestrzenny oraz ograniczenie lokalnych ekstremów:</a:t>
            </a:r>
          </a:p>
          <a:p>
            <a:pPr lvl="0" algn="just"/>
            <a:r>
              <a:rPr lang="pl-PL" dirty="0"/>
              <a:t>funkcja jądra: </a:t>
            </a:r>
            <a:r>
              <a:rPr lang="pl-PL" b="1" dirty="0" err="1"/>
              <a:t>Spline</a:t>
            </a:r>
            <a:r>
              <a:rPr lang="pl-PL" b="1" dirty="0"/>
              <a:t> with </a:t>
            </a:r>
            <a:r>
              <a:rPr lang="pl-PL" b="1" dirty="0" err="1"/>
              <a:t>Tension</a:t>
            </a:r>
            <a:endParaRPr lang="pl-PL" dirty="0"/>
          </a:p>
          <a:p>
            <a:pPr lvl="0" algn="just"/>
            <a:r>
              <a:rPr lang="pl-PL" dirty="0"/>
              <a:t>liczba sąsiadów: </a:t>
            </a:r>
            <a:r>
              <a:rPr lang="pl-PL" b="1" dirty="0"/>
              <a:t>10–15</a:t>
            </a:r>
            <a:endParaRPr lang="pl-PL" dirty="0"/>
          </a:p>
          <a:p>
            <a:pPr algn="just"/>
            <a:r>
              <a:rPr lang="pl-PL" dirty="0"/>
              <a:t>Wariant </a:t>
            </a:r>
            <a:r>
              <a:rPr lang="pl-PL" dirty="0" err="1"/>
              <a:t>Thin</a:t>
            </a:r>
            <a:r>
              <a:rPr lang="pl-PL" dirty="0"/>
              <a:t> </a:t>
            </a:r>
            <a:r>
              <a:rPr lang="pl-PL" dirty="0" err="1"/>
              <a:t>Plate</a:t>
            </a:r>
            <a:r>
              <a:rPr lang="pl-PL" dirty="0"/>
              <a:t> </a:t>
            </a:r>
            <a:r>
              <a:rPr lang="pl-PL" dirty="0" err="1"/>
              <a:t>Spline</a:t>
            </a:r>
            <a:r>
              <a:rPr lang="pl-PL" dirty="0"/>
              <a:t> generował zbyt silne lokalne wahania, natomiast </a:t>
            </a:r>
            <a:r>
              <a:rPr lang="pl-PL" dirty="0" err="1"/>
              <a:t>Completely</a:t>
            </a:r>
            <a:r>
              <a:rPr lang="pl-PL" dirty="0"/>
              <a:t> </a:t>
            </a:r>
            <a:r>
              <a:rPr lang="pl-PL" dirty="0" err="1"/>
              <a:t>Regularized</a:t>
            </a:r>
            <a:r>
              <a:rPr lang="pl-PL" dirty="0"/>
              <a:t> </a:t>
            </a:r>
            <a:r>
              <a:rPr lang="pl-PL" dirty="0" err="1"/>
              <a:t>Spline</a:t>
            </a:r>
            <a:r>
              <a:rPr lang="pl-PL" dirty="0"/>
              <a:t> prowadził do nadmiernego wygładzenia powierzchni.</a:t>
            </a:r>
          </a:p>
          <a:p>
            <a:pPr algn="just"/>
            <a:r>
              <a:rPr lang="pl-PL" b="1" dirty="0"/>
              <a:t>Błąd interpolacji (walidacja krzyżowa)</a:t>
            </a:r>
            <a:endParaRPr lang="pl-PL" dirty="0"/>
          </a:p>
          <a:p>
            <a:pPr algn="just"/>
            <a:r>
              <a:rPr lang="pl-PL" dirty="0"/>
              <a:t>Dokładność interpolacji oceniono na podstawie walidacji krzyżowej oraz wartości błędu </a:t>
            </a:r>
            <a:r>
              <a:rPr lang="pl-PL" b="1" dirty="0"/>
              <a:t>RMS (Root </a:t>
            </a:r>
            <a:r>
              <a:rPr lang="pl-PL" b="1" dirty="0" err="1"/>
              <a:t>Mean</a:t>
            </a:r>
            <a:r>
              <a:rPr lang="pl-PL" b="1" dirty="0"/>
              <a:t> </a:t>
            </a:r>
            <a:r>
              <a:rPr lang="pl-PL" b="1" dirty="0" err="1"/>
              <a:t>Square</a:t>
            </a:r>
            <a:r>
              <a:rPr lang="pl-PL" b="1" dirty="0"/>
              <a:t> Error)</a:t>
            </a:r>
            <a:r>
              <a:rPr lang="pl-PL" dirty="0"/>
              <a:t>, który określa średnie odchylenie wartości prognozowanych od wartości rzeczywistych w punktach pomiarowych.</a:t>
            </a:r>
          </a:p>
          <a:p>
            <a:pPr algn="just"/>
            <a:r>
              <a:rPr lang="pl-PL" dirty="0"/>
              <a:t>Najniższy błąd RMS uzyskano dla wariantu </a:t>
            </a:r>
            <a:r>
              <a:rPr lang="pl-PL" b="1" dirty="0" err="1"/>
              <a:t>Spline</a:t>
            </a:r>
            <a:r>
              <a:rPr lang="pl-PL" b="1" dirty="0"/>
              <a:t> with </a:t>
            </a:r>
            <a:r>
              <a:rPr lang="pl-PL" b="1" dirty="0" err="1"/>
              <a:t>Tension</a:t>
            </a:r>
            <a:r>
              <a:rPr lang="pl-PL" dirty="0"/>
              <a:t>, dlatego został on przyjęty jako końcowy wynik interpolacji metodą RBFF dla stężeń PM10.</a:t>
            </a:r>
          </a:p>
          <a:p>
            <a:pPr algn="just"/>
            <a:r>
              <a:rPr lang="pl-PL" dirty="0"/>
              <a:t> </a:t>
            </a:r>
          </a:p>
          <a:p>
            <a:pPr algn="just"/>
            <a:endParaRPr lang="pl-PL" dirty="0"/>
          </a:p>
        </p:txBody>
      </p:sp>
    </p:spTree>
    <p:extLst>
      <p:ext uri="{BB962C8B-B14F-4D97-AF65-F5344CB8AC3E}">
        <p14:creationId xmlns:p14="http://schemas.microsoft.com/office/powerpoint/2010/main" val="2906525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8E428DA-C4F0-A044-9452-906CF3CF6B1D}"/>
              </a:ext>
            </a:extLst>
          </p:cNvPr>
          <p:cNvSpPr>
            <a:spLocks noGrp="1"/>
          </p:cNvSpPr>
          <p:nvPr>
            <p:ph type="title"/>
          </p:nvPr>
        </p:nvSpPr>
        <p:spPr>
          <a:xfrm>
            <a:off x="838200" y="365125"/>
            <a:ext cx="10515600" cy="1860400"/>
          </a:xfrm>
        </p:spPr>
        <p:txBody>
          <a:bodyPr>
            <a:normAutofit/>
          </a:bodyPr>
          <a:lstStyle/>
          <a:p>
            <a:r>
              <a:rPr lang="en-US" sz="3200" dirty="0" err="1"/>
              <a:t>Kompozycja</a:t>
            </a:r>
            <a:r>
              <a:rPr lang="en-US" sz="3200" dirty="0"/>
              <a:t> </a:t>
            </a:r>
            <a:r>
              <a:rPr lang="en-US" sz="3200" dirty="0" err="1"/>
              <a:t>mapowa</a:t>
            </a:r>
            <a:r>
              <a:rPr lang="en-US" sz="3200" dirty="0"/>
              <a:t> I</a:t>
            </a:r>
            <a:r>
              <a:rPr lang="pl-PL" sz="3200" dirty="0"/>
              <a:t>I</a:t>
            </a:r>
            <a:r>
              <a:rPr lang="en-US" sz="3200" dirty="0"/>
              <a:t> </a:t>
            </a:r>
            <a:r>
              <a:rPr lang="en-US" sz="3200" dirty="0" err="1"/>
              <a:t>metody</a:t>
            </a:r>
            <a:r>
              <a:rPr lang="en-US" sz="3200" dirty="0"/>
              <a:t> </a:t>
            </a:r>
            <a:r>
              <a:rPr lang="en-US" sz="3200" dirty="0" err="1"/>
              <a:t>interpolacji</a:t>
            </a:r>
            <a:r>
              <a:rPr lang="en-US" sz="3200" dirty="0"/>
              <a:t> –</a:t>
            </a:r>
            <a:r>
              <a:rPr lang="pl-PL" sz="3200" dirty="0"/>
              <a:t>RBFF dodatkowe analizowane lata 2021 i 2019 </a:t>
            </a:r>
          </a:p>
        </p:txBody>
      </p:sp>
      <p:pic>
        <p:nvPicPr>
          <p:cNvPr id="8" name="Symbol zastępczy zawartości 7" descr="Obraz zawierający tekst, diagram, zrzut ekranu, mapa&#10;&#10;Zawartość wygenerowana przez AI może być niepoprawna.">
            <a:extLst>
              <a:ext uri="{FF2B5EF4-FFF2-40B4-BE49-F238E27FC236}">
                <a16:creationId xmlns:a16="http://schemas.microsoft.com/office/drawing/2014/main" id="{7DFAD905-EC9E-7B90-3F8E-A990DA6DA012}"/>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311793" y="2365285"/>
            <a:ext cx="5567143" cy="3938756"/>
          </a:xfrm>
          <a:prstGeom prst="rect">
            <a:avLst/>
          </a:prstGeom>
        </p:spPr>
      </p:pic>
      <p:pic>
        <p:nvPicPr>
          <p:cNvPr id="6" name="Symbol zastępczy zawartości 5" descr="Obraz zawierający tekst, diagram, zrzut ekranu, mapa&#10;&#10;Zawartość wygenerowana przez AI może być niepoprawna.">
            <a:extLst>
              <a:ext uri="{FF2B5EF4-FFF2-40B4-BE49-F238E27FC236}">
                <a16:creationId xmlns:a16="http://schemas.microsoft.com/office/drawing/2014/main" id="{50FF01B6-2D78-69E1-BF5F-E91B1E3CB311}"/>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6313064" y="2365285"/>
            <a:ext cx="5567143" cy="3938756"/>
          </a:xfrm>
          <a:prstGeom prst="rect">
            <a:avLst/>
          </a:prstGeom>
        </p:spPr>
      </p:pic>
    </p:spTree>
    <p:extLst>
      <p:ext uri="{BB962C8B-B14F-4D97-AF65-F5344CB8AC3E}">
        <p14:creationId xmlns:p14="http://schemas.microsoft.com/office/powerpoint/2010/main" val="1021830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8">
            <a:extLst>
              <a:ext uri="{FF2B5EF4-FFF2-40B4-BE49-F238E27FC236}">
                <a16:creationId xmlns:a16="http://schemas.microsoft.com/office/drawing/2014/main" id="{0855A890-B60B-4670-9DC2-69DC05015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3860EE2E-5E40-A65E-1279-ACD60102753A}"/>
              </a:ext>
            </a:extLst>
          </p:cNvPr>
          <p:cNvSpPr>
            <a:spLocks noGrp="1"/>
          </p:cNvSpPr>
          <p:nvPr>
            <p:ph type="title"/>
          </p:nvPr>
        </p:nvSpPr>
        <p:spPr>
          <a:xfrm>
            <a:off x="454467" y="2023110"/>
            <a:ext cx="2469624" cy="2846070"/>
          </a:xfrm>
        </p:spPr>
        <p:txBody>
          <a:bodyPr vert="horz" lIns="91440" tIns="45720" rIns="91440" bIns="45720" rtlCol="0" anchor="ctr">
            <a:normAutofit/>
          </a:bodyPr>
          <a:lstStyle/>
          <a:p>
            <a:r>
              <a:rPr lang="en-US" sz="3400"/>
              <a:t>Kompozycja mapowa III metody interpolacji – Kriging</a:t>
            </a:r>
          </a:p>
        </p:txBody>
      </p:sp>
      <p:sp>
        <p:nvSpPr>
          <p:cNvPr id="137" name="Rectangle 140">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22480"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4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042549"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ectangle 14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283"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8" name="Obraz 117" descr="Obraz zawierający tekst, zrzut ekranu, diagram, mapa&#10;&#10;Zawartość wygenerowana przez AI może być niepoprawna.">
            <a:extLst>
              <a:ext uri="{FF2B5EF4-FFF2-40B4-BE49-F238E27FC236}">
                <a16:creationId xmlns:a16="http://schemas.microsoft.com/office/drawing/2014/main" id="{239D6D74-51CB-C39D-1C3A-5B5FC44A4D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2347" y="883463"/>
            <a:ext cx="3567127" cy="2523744"/>
          </a:xfrm>
          <a:prstGeom prst="rect">
            <a:avLst/>
          </a:prstGeom>
        </p:spPr>
      </p:pic>
      <p:pic>
        <p:nvPicPr>
          <p:cNvPr id="127" name="Obraz 126" descr="Obraz zawierający tekst, zrzut ekranu, diagram, mapa&#10;&#10;Zawartość wygenerowana przez AI może być niepoprawna.">
            <a:extLst>
              <a:ext uri="{FF2B5EF4-FFF2-40B4-BE49-F238E27FC236}">
                <a16:creationId xmlns:a16="http://schemas.microsoft.com/office/drawing/2014/main" id="{FB42DA02-23EA-5A88-CE0B-3FA5487F9D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7572" y="997306"/>
            <a:ext cx="3703320" cy="2296058"/>
          </a:xfrm>
          <a:prstGeom prst="rect">
            <a:avLst/>
          </a:prstGeom>
        </p:spPr>
      </p:pic>
      <p:pic>
        <p:nvPicPr>
          <p:cNvPr id="122" name="Obraz 121" descr="Obraz zawierający tekst, zrzut ekranu, numer, diagram&#10;&#10;Zawartość wygenerowana przez AI może być niepoprawna.">
            <a:extLst>
              <a:ext uri="{FF2B5EF4-FFF2-40B4-BE49-F238E27FC236}">
                <a16:creationId xmlns:a16="http://schemas.microsoft.com/office/drawing/2014/main" id="{1B95FB46-211C-F6C5-10DA-51FF520BC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4251" y="3683446"/>
            <a:ext cx="3703320" cy="2286799"/>
          </a:xfrm>
          <a:prstGeom prst="rect">
            <a:avLst/>
          </a:prstGeom>
        </p:spPr>
      </p:pic>
      <p:pic>
        <p:nvPicPr>
          <p:cNvPr id="134" name="Obraz 133" descr="Obraz zawierający tekst, zrzut ekranu, diagram&#10;&#10;Zawartość wygenerowana przez AI może być niepoprawna.">
            <a:extLst>
              <a:ext uri="{FF2B5EF4-FFF2-40B4-BE49-F238E27FC236}">
                <a16:creationId xmlns:a16="http://schemas.microsoft.com/office/drawing/2014/main" id="{CA80BDF4-2FB1-B3CF-EE3A-0BA53E1643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2998" y="3688074"/>
            <a:ext cx="3703320" cy="2277541"/>
          </a:xfrm>
          <a:prstGeom prst="rect">
            <a:avLst/>
          </a:prstGeom>
        </p:spPr>
      </p:pic>
    </p:spTree>
    <p:extLst>
      <p:ext uri="{BB962C8B-B14F-4D97-AF65-F5344CB8AC3E}">
        <p14:creationId xmlns:p14="http://schemas.microsoft.com/office/powerpoint/2010/main" val="52301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B5851AB-AE9E-8ABE-8A3A-513363CDDE19}"/>
              </a:ext>
            </a:extLst>
          </p:cNvPr>
          <p:cNvSpPr>
            <a:spLocks noGrp="1"/>
          </p:cNvSpPr>
          <p:nvPr>
            <p:ph type="title"/>
          </p:nvPr>
        </p:nvSpPr>
        <p:spPr>
          <a:xfrm>
            <a:off x="838200" y="173037"/>
            <a:ext cx="10515600" cy="1325563"/>
          </a:xfrm>
        </p:spPr>
        <p:txBody>
          <a:bodyPr>
            <a:normAutofit/>
          </a:bodyPr>
          <a:lstStyle/>
          <a:p>
            <a:r>
              <a:rPr lang="pl-PL" sz="3200" dirty="0">
                <a:solidFill>
                  <a:srgbClr val="000000"/>
                </a:solidFill>
                <a:ea typeface="Times New Roman" panose="02020603050405020304" pitchFamily="18" charset="0"/>
              </a:rPr>
              <a:t>Krótka charakterystyka metody i błędu interpolacji</a:t>
            </a:r>
            <a:endParaRPr lang="pl-PL" sz="3200" dirty="0"/>
          </a:p>
        </p:txBody>
      </p:sp>
      <p:sp>
        <p:nvSpPr>
          <p:cNvPr id="4" name="pole tekstowe 3">
            <a:extLst>
              <a:ext uri="{FF2B5EF4-FFF2-40B4-BE49-F238E27FC236}">
                <a16:creationId xmlns:a16="http://schemas.microsoft.com/office/drawing/2014/main" id="{ADE5BD42-19A3-11C1-11C9-4DBCFE548A8C}"/>
              </a:ext>
            </a:extLst>
          </p:cNvPr>
          <p:cNvSpPr txBox="1"/>
          <p:nvPr/>
        </p:nvSpPr>
        <p:spPr>
          <a:xfrm>
            <a:off x="139700" y="1308100"/>
            <a:ext cx="11912600" cy="5724644"/>
          </a:xfrm>
          <a:prstGeom prst="rect">
            <a:avLst/>
          </a:prstGeom>
          <a:noFill/>
        </p:spPr>
        <p:txBody>
          <a:bodyPr wrap="square" rtlCol="0">
            <a:spAutoFit/>
          </a:bodyPr>
          <a:lstStyle/>
          <a:p>
            <a:r>
              <a:rPr lang="pl-PL" sz="1600" b="1" dirty="0"/>
              <a:t>Metoda interpolacji Kriging zwyczajny (</a:t>
            </a:r>
            <a:r>
              <a:rPr lang="pl-PL" sz="1600" b="1" dirty="0" err="1"/>
              <a:t>Ordinary</a:t>
            </a:r>
            <a:r>
              <a:rPr lang="pl-PL" sz="1600" b="1" dirty="0"/>
              <a:t> Kriging)</a:t>
            </a:r>
            <a:endParaRPr lang="pl-PL" sz="1600" dirty="0"/>
          </a:p>
          <a:p>
            <a:r>
              <a:rPr lang="pl-PL" sz="1600" dirty="0"/>
              <a:t>Trzecią zastosowaną metodą interpolacji przestrzennej stężeń pyłu PM10 była metoda geostatystyczna </a:t>
            </a:r>
            <a:r>
              <a:rPr lang="pl-PL" sz="1600" b="1" dirty="0" err="1"/>
              <a:t>Ordinary</a:t>
            </a:r>
            <a:r>
              <a:rPr lang="pl-PL" sz="1600" b="1" dirty="0"/>
              <a:t> Kriging (Kriging zwyczajny)</a:t>
            </a:r>
            <a:r>
              <a:rPr lang="pl-PL" sz="1600" dirty="0"/>
              <a:t>. Metoda ta zakłada istnienie autokorelacji przestrzennej, czyli zależności pomiędzy wartościami stężeń a odległością pomiędzy stacjami pomiarowymi. W przeciwieństwie do metod deterministycznych, Kriging wykorzystuje model </a:t>
            </a:r>
            <a:r>
              <a:rPr lang="pl-PL" sz="1600" dirty="0" err="1"/>
              <a:t>semiwariogramu</a:t>
            </a:r>
            <a:r>
              <a:rPr lang="pl-PL" sz="1600" dirty="0"/>
              <a:t> opisujący strukturę zmienności przestrzennej danych, co pozwala uzyskać bardziej wiarygodne prognozy.</a:t>
            </a:r>
          </a:p>
          <a:p>
            <a:r>
              <a:rPr lang="pl-PL" sz="1600" b="1" dirty="0"/>
              <a:t>Parametry interpolacji po zmianie ustawień</a:t>
            </a:r>
            <a:endParaRPr lang="pl-PL" sz="1600" dirty="0"/>
          </a:p>
          <a:p>
            <a:r>
              <a:rPr lang="pl-PL" sz="1600" dirty="0"/>
              <a:t>W celu poprawy jakości estymacji oraz obniżenia błędu interpolacji zastosowano następujące ustawienia:</a:t>
            </a:r>
          </a:p>
          <a:p>
            <a:pPr lvl="0"/>
            <a:r>
              <a:rPr lang="pl-PL" sz="1600" dirty="0"/>
              <a:t>wybrano </a:t>
            </a:r>
            <a:r>
              <a:rPr lang="pl-PL" sz="1600" b="1" dirty="0" err="1"/>
              <a:t>Ordinary</a:t>
            </a:r>
            <a:r>
              <a:rPr lang="pl-PL" sz="1600" b="1" dirty="0"/>
              <a:t> Kriging</a:t>
            </a:r>
            <a:r>
              <a:rPr lang="pl-PL" sz="1600" dirty="0"/>
              <a:t> jako metodę bazową</a:t>
            </a:r>
          </a:p>
          <a:p>
            <a:pPr lvl="0"/>
            <a:r>
              <a:rPr lang="pl-PL" sz="1600" dirty="0"/>
              <a:t>wprowadzono transformację danych typu </a:t>
            </a:r>
            <a:r>
              <a:rPr lang="pl-PL" sz="1600" b="1" dirty="0"/>
              <a:t>Box–Cox</a:t>
            </a:r>
            <a:r>
              <a:rPr lang="pl-PL" sz="1600" dirty="0"/>
              <a:t> (Power = 1), aby ograniczyć wpływ asymetrii rozkładu stężeń PM10</a:t>
            </a:r>
          </a:p>
          <a:p>
            <a:pPr lvl="0"/>
            <a:r>
              <a:rPr lang="pl-PL" sz="1600" dirty="0"/>
              <a:t>dopasowano </a:t>
            </a:r>
            <a:r>
              <a:rPr lang="pl-PL" sz="1600" dirty="0" err="1"/>
              <a:t>semiwariogram</a:t>
            </a:r>
            <a:r>
              <a:rPr lang="pl-PL" sz="1600" dirty="0"/>
              <a:t> w oparciu o </a:t>
            </a:r>
            <a:r>
              <a:rPr lang="pl-PL" sz="1600" b="1" dirty="0"/>
              <a:t>model sferyczny (</a:t>
            </a:r>
            <a:r>
              <a:rPr lang="pl-PL" sz="1600" b="1" dirty="0" err="1"/>
              <a:t>Spherical</a:t>
            </a:r>
            <a:r>
              <a:rPr lang="pl-PL" sz="1600" b="1" dirty="0"/>
              <a:t>)</a:t>
            </a:r>
            <a:r>
              <a:rPr lang="pl-PL" sz="1600" dirty="0"/>
              <a:t>, najlepiej opisujący zmienność danych</a:t>
            </a:r>
          </a:p>
          <a:p>
            <a:pPr lvl="0"/>
            <a:r>
              <a:rPr lang="pl-PL" sz="1600" dirty="0"/>
              <a:t>ustawiono sąsiedztwo wyszukiwania na poziomie:</a:t>
            </a:r>
          </a:p>
          <a:p>
            <a:pPr lvl="1"/>
            <a:r>
              <a:rPr lang="pl-PL" sz="1600" dirty="0"/>
              <a:t>minimum 2 sąsiadów</a:t>
            </a:r>
          </a:p>
          <a:p>
            <a:pPr lvl="1"/>
            <a:r>
              <a:rPr lang="pl-PL" sz="1600" dirty="0"/>
              <a:t>maksimum 5 sąsiadów</a:t>
            </a:r>
          </a:p>
          <a:p>
            <a:pPr lvl="1"/>
            <a:r>
              <a:rPr lang="pl-PL" sz="1600" dirty="0"/>
              <a:t>podział na 4 sektory</a:t>
            </a:r>
          </a:p>
          <a:p>
            <a:r>
              <a:rPr lang="pl-PL" sz="1600" dirty="0"/>
              <a:t>Dobór tych parametrów pozwolił ograniczyć wpływ wartości ekstremalnych oraz poprawić stabilność modelu przestrzennego.</a:t>
            </a:r>
          </a:p>
          <a:p>
            <a:r>
              <a:rPr lang="pl-PL" sz="1600" b="1" dirty="0"/>
              <a:t>Błąd interpolacji (walidacja krzyżowa)</a:t>
            </a:r>
            <a:endParaRPr lang="pl-PL" sz="1600" dirty="0"/>
          </a:p>
          <a:p>
            <a:r>
              <a:rPr lang="pl-PL" sz="1600" dirty="0"/>
              <a:t>Dokładność modelu oceniono na podstawie walidacji krzyżowej oraz błędu RMS (Root </a:t>
            </a:r>
            <a:r>
              <a:rPr lang="pl-PL" sz="1600" dirty="0" err="1"/>
              <a:t>Mean</a:t>
            </a:r>
            <a:r>
              <a:rPr lang="pl-PL" sz="1600" dirty="0"/>
              <a:t> </a:t>
            </a:r>
            <a:r>
              <a:rPr lang="pl-PL" sz="1600" dirty="0" err="1"/>
              <a:t>Square</a:t>
            </a:r>
            <a:r>
              <a:rPr lang="pl-PL" sz="1600" dirty="0"/>
              <a:t> Error). Uzyskano:</a:t>
            </a:r>
          </a:p>
          <a:p>
            <a:pPr lvl="0"/>
            <a:r>
              <a:rPr lang="pl-PL" sz="1600" dirty="0"/>
              <a:t>RMS ≈ 3,60</a:t>
            </a:r>
          </a:p>
          <a:p>
            <a:pPr lvl="0"/>
            <a:r>
              <a:rPr lang="pl-PL" sz="1600" dirty="0"/>
              <a:t>średni błąd standardowy ≈ 3,44</a:t>
            </a:r>
          </a:p>
          <a:p>
            <a:r>
              <a:rPr lang="pl-PL" sz="1600" dirty="0"/>
              <a:t>Otrzymana wartość RMS wskazuje na dobrą zgodność wyników interpolacji z wartościami zmierzonymi w punktach pomiarowych. </a:t>
            </a:r>
            <a:r>
              <a:rPr lang="pl-PL" sz="1600" dirty="0" err="1"/>
              <a:t>Ordinary</a:t>
            </a:r>
            <a:r>
              <a:rPr lang="pl-PL" sz="1600" dirty="0"/>
              <a:t> Kriging okazał się metodą o najwyższej dokładności spośród analizowanych wariantów interpolacji dla danych PM10 w 2021 roku.</a:t>
            </a:r>
          </a:p>
        </p:txBody>
      </p:sp>
    </p:spTree>
    <p:extLst>
      <p:ext uri="{BB962C8B-B14F-4D97-AF65-F5344CB8AC3E}">
        <p14:creationId xmlns:p14="http://schemas.microsoft.com/office/powerpoint/2010/main" val="1747294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33E72FA3-BD00-444A-AD9B-E6C3D069CD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0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EE282252-ECBD-86BF-5F52-A32578BF4E2D}"/>
              </a:ext>
            </a:extLst>
          </p:cNvPr>
          <p:cNvSpPr>
            <a:spLocks noGrp="1"/>
          </p:cNvSpPr>
          <p:nvPr>
            <p:ph type="title"/>
          </p:nvPr>
        </p:nvSpPr>
        <p:spPr>
          <a:xfrm>
            <a:off x="838200" y="557189"/>
            <a:ext cx="10515600" cy="1110537"/>
          </a:xfrm>
        </p:spPr>
        <p:txBody>
          <a:bodyPr vert="horz" lIns="91440" tIns="45720" rIns="91440" bIns="45720" rtlCol="0" anchor="ctr">
            <a:noAutofit/>
          </a:bodyPr>
          <a:lstStyle/>
          <a:p>
            <a:r>
              <a:rPr lang="en-US" sz="3200" kern="1200" dirty="0" err="1">
                <a:solidFill>
                  <a:schemeClr val="tx1"/>
                </a:solidFill>
                <a:latin typeface="+mj-lt"/>
                <a:ea typeface="+mj-ea"/>
                <a:cs typeface="+mj-cs"/>
              </a:rPr>
              <a:t>Kompozycja</a:t>
            </a:r>
            <a:r>
              <a:rPr lang="en-US" sz="3200" kern="1200" dirty="0">
                <a:solidFill>
                  <a:schemeClr val="tx1"/>
                </a:solidFill>
                <a:latin typeface="+mj-lt"/>
                <a:ea typeface="+mj-ea"/>
                <a:cs typeface="+mj-cs"/>
              </a:rPr>
              <a:t> </a:t>
            </a:r>
            <a:r>
              <a:rPr lang="en-US" sz="3200" kern="1200" dirty="0" err="1">
                <a:solidFill>
                  <a:schemeClr val="tx1"/>
                </a:solidFill>
                <a:latin typeface="+mj-lt"/>
                <a:ea typeface="+mj-ea"/>
                <a:cs typeface="+mj-cs"/>
              </a:rPr>
              <a:t>mapowa</a:t>
            </a:r>
            <a:r>
              <a:rPr lang="en-US" sz="3200" kern="1200" dirty="0">
                <a:solidFill>
                  <a:schemeClr val="tx1"/>
                </a:solidFill>
                <a:latin typeface="+mj-lt"/>
                <a:ea typeface="+mj-ea"/>
                <a:cs typeface="+mj-cs"/>
              </a:rPr>
              <a:t> III </a:t>
            </a:r>
            <a:r>
              <a:rPr lang="en-US" sz="3200" kern="1200" dirty="0" err="1">
                <a:solidFill>
                  <a:schemeClr val="tx1"/>
                </a:solidFill>
                <a:latin typeface="+mj-lt"/>
                <a:ea typeface="+mj-ea"/>
                <a:cs typeface="+mj-cs"/>
              </a:rPr>
              <a:t>metody</a:t>
            </a:r>
            <a:r>
              <a:rPr lang="en-US" sz="3200" kern="1200" dirty="0">
                <a:solidFill>
                  <a:schemeClr val="tx1"/>
                </a:solidFill>
                <a:latin typeface="+mj-lt"/>
                <a:ea typeface="+mj-ea"/>
                <a:cs typeface="+mj-cs"/>
              </a:rPr>
              <a:t> </a:t>
            </a:r>
            <a:r>
              <a:rPr lang="en-US" sz="3200" kern="1200" dirty="0" err="1">
                <a:solidFill>
                  <a:schemeClr val="tx1"/>
                </a:solidFill>
                <a:latin typeface="+mj-lt"/>
                <a:ea typeface="+mj-ea"/>
                <a:cs typeface="+mj-cs"/>
              </a:rPr>
              <a:t>interpolacji</a:t>
            </a:r>
            <a:r>
              <a:rPr lang="en-US" sz="3200" kern="1200" dirty="0">
                <a:solidFill>
                  <a:schemeClr val="tx1"/>
                </a:solidFill>
                <a:latin typeface="+mj-lt"/>
                <a:ea typeface="+mj-ea"/>
                <a:cs typeface="+mj-cs"/>
              </a:rPr>
              <a:t>, po </a:t>
            </a:r>
            <a:r>
              <a:rPr lang="en-US" sz="3200" kern="1200" dirty="0" err="1">
                <a:solidFill>
                  <a:schemeClr val="tx1"/>
                </a:solidFill>
                <a:latin typeface="+mj-lt"/>
                <a:ea typeface="+mj-ea"/>
                <a:cs typeface="+mj-cs"/>
              </a:rPr>
              <a:t>zmianie</a:t>
            </a:r>
            <a:r>
              <a:rPr lang="en-US" sz="3200" kern="1200" dirty="0">
                <a:solidFill>
                  <a:schemeClr val="tx1"/>
                </a:solidFill>
                <a:latin typeface="+mj-lt"/>
                <a:ea typeface="+mj-ea"/>
                <a:cs typeface="+mj-cs"/>
              </a:rPr>
              <a:t> </a:t>
            </a:r>
            <a:r>
              <a:rPr lang="en-US" sz="3200" kern="1200" dirty="0" err="1">
                <a:solidFill>
                  <a:schemeClr val="tx1"/>
                </a:solidFill>
                <a:latin typeface="+mj-lt"/>
                <a:ea typeface="+mj-ea"/>
                <a:cs typeface="+mj-cs"/>
              </a:rPr>
              <a:t>parametrów</a:t>
            </a:r>
            <a:r>
              <a:rPr lang="en-US" sz="3200" kern="1200" dirty="0">
                <a:solidFill>
                  <a:schemeClr val="tx1"/>
                </a:solidFill>
                <a:latin typeface="+mj-lt"/>
                <a:ea typeface="+mj-ea"/>
                <a:cs typeface="+mj-cs"/>
              </a:rPr>
              <a:t> </a:t>
            </a:r>
            <a:r>
              <a:rPr lang="en-US" sz="3200" kern="1200" dirty="0" err="1">
                <a:solidFill>
                  <a:schemeClr val="tx1"/>
                </a:solidFill>
                <a:latin typeface="+mj-lt"/>
                <a:ea typeface="+mj-ea"/>
                <a:cs typeface="+mj-cs"/>
              </a:rPr>
              <a:t>analizy</a:t>
            </a:r>
            <a:endParaRPr lang="en-US" sz="3200" b="1" kern="1200" dirty="0">
              <a:solidFill>
                <a:schemeClr val="tx1"/>
              </a:solidFill>
              <a:latin typeface="+mj-lt"/>
              <a:ea typeface="+mj-ea"/>
              <a:cs typeface="+mj-cs"/>
            </a:endParaRPr>
          </a:p>
        </p:txBody>
      </p:sp>
      <p:pic>
        <p:nvPicPr>
          <p:cNvPr id="15" name="Symbol zastępczy zawartości 14" descr="Obraz zawierający tekst, zrzut ekranu, diagram, mapa&#10;&#10;Zawartość wygenerowana przez AI może być niepoprawna.">
            <a:extLst>
              <a:ext uri="{FF2B5EF4-FFF2-40B4-BE49-F238E27FC236}">
                <a16:creationId xmlns:a16="http://schemas.microsoft.com/office/drawing/2014/main" id="{E78890AF-DFBB-637E-A3B3-0E0DEFD18A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1446" y="1834939"/>
            <a:ext cx="2907385" cy="2056976"/>
          </a:xfrm>
          <a:prstGeom prst="rect">
            <a:avLst/>
          </a:prstGeom>
        </p:spPr>
      </p:pic>
      <p:pic>
        <p:nvPicPr>
          <p:cNvPr id="17" name="Obraz 16" descr="Obraz zawierający tekst, zrzut ekranu, numer, diagram&#10;&#10;Zawartość wygenerowana przez AI może być niepoprawna.">
            <a:extLst>
              <a:ext uri="{FF2B5EF4-FFF2-40B4-BE49-F238E27FC236}">
                <a16:creationId xmlns:a16="http://schemas.microsoft.com/office/drawing/2014/main" id="{4EC3A98F-6356-137D-C487-82A6232C76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492" y="1834939"/>
            <a:ext cx="3291162" cy="2056976"/>
          </a:xfrm>
          <a:prstGeom prst="rect">
            <a:avLst/>
          </a:prstGeom>
        </p:spPr>
      </p:pic>
      <p:pic>
        <p:nvPicPr>
          <p:cNvPr id="25" name="Obraz 24" descr="Obraz zawierający tekst, zrzut ekranu, oprogramowanie, numer&#10;&#10;Zawartość wygenerowana przez AI może być niepoprawna.">
            <a:extLst>
              <a:ext uri="{FF2B5EF4-FFF2-40B4-BE49-F238E27FC236}">
                <a16:creationId xmlns:a16="http://schemas.microsoft.com/office/drawing/2014/main" id="{1A850EB2-083A-5405-B4BD-659E0114B2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32241" y="1834939"/>
            <a:ext cx="3304379" cy="2056976"/>
          </a:xfrm>
          <a:prstGeom prst="rect">
            <a:avLst/>
          </a:prstGeom>
        </p:spPr>
      </p:pic>
      <p:pic>
        <p:nvPicPr>
          <p:cNvPr id="19" name="Obraz 18" descr="Obraz zawierający tekst, zrzut ekranu, diagram&#10;&#10;Zawartość wygenerowana przez AI może być niepoprawna.">
            <a:extLst>
              <a:ext uri="{FF2B5EF4-FFF2-40B4-BE49-F238E27FC236}">
                <a16:creationId xmlns:a16="http://schemas.microsoft.com/office/drawing/2014/main" id="{481770FB-F4B2-6A14-71EE-E818579EDD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2949" y="4063630"/>
            <a:ext cx="3304379" cy="2056976"/>
          </a:xfrm>
          <a:prstGeom prst="rect">
            <a:avLst/>
          </a:prstGeom>
        </p:spPr>
      </p:pic>
      <p:pic>
        <p:nvPicPr>
          <p:cNvPr id="23" name="Obraz 22" descr="Obraz zawierający tekst, diagram, zrzut ekranu, Wykres&#10;&#10;Zawartość wygenerowana przez AI może być niepoprawna.">
            <a:extLst>
              <a:ext uri="{FF2B5EF4-FFF2-40B4-BE49-F238E27FC236}">
                <a16:creationId xmlns:a16="http://schemas.microsoft.com/office/drawing/2014/main" id="{33F7FDE7-E4D3-A038-EB5B-F5080B09A7C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25506" y="4063630"/>
            <a:ext cx="3331135" cy="2056976"/>
          </a:xfrm>
          <a:prstGeom prst="rect">
            <a:avLst/>
          </a:prstGeom>
        </p:spPr>
      </p:pic>
      <p:pic>
        <p:nvPicPr>
          <p:cNvPr id="21" name="Obraz 20" descr="Obraz zawierający tekst, zrzut ekranu, diagram, numer&#10;&#10;Zawartość wygenerowana przez AI może być niepoprawna.">
            <a:extLst>
              <a:ext uri="{FF2B5EF4-FFF2-40B4-BE49-F238E27FC236}">
                <a16:creationId xmlns:a16="http://schemas.microsoft.com/office/drawing/2014/main" id="{EEC79CF5-E723-3A1F-0A58-31B3128D4C6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12092" y="4063630"/>
            <a:ext cx="3344676" cy="2056976"/>
          </a:xfrm>
          <a:prstGeom prst="rect">
            <a:avLst/>
          </a:prstGeom>
        </p:spPr>
      </p:pic>
    </p:spTree>
    <p:extLst>
      <p:ext uri="{BB962C8B-B14F-4D97-AF65-F5344CB8AC3E}">
        <p14:creationId xmlns:p14="http://schemas.microsoft.com/office/powerpoint/2010/main" val="1561733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B677A35-1B52-8BF8-04DD-AE31955921F7}"/>
              </a:ext>
            </a:extLst>
          </p:cNvPr>
          <p:cNvSpPr>
            <a:spLocks noGrp="1"/>
          </p:cNvSpPr>
          <p:nvPr>
            <p:ph type="title"/>
          </p:nvPr>
        </p:nvSpPr>
        <p:spPr>
          <a:xfrm>
            <a:off x="838200" y="155575"/>
            <a:ext cx="10515600" cy="1325563"/>
          </a:xfrm>
        </p:spPr>
        <p:txBody>
          <a:bodyPr>
            <a:noAutofit/>
          </a:bodyPr>
          <a:lstStyle/>
          <a:p>
            <a:r>
              <a:rPr lang="en-US" sz="3200" dirty="0"/>
              <a:t> </a:t>
            </a:r>
            <a:r>
              <a:rPr lang="pl-PL" sz="3200" dirty="0"/>
              <a:t>K</a:t>
            </a:r>
            <a:r>
              <a:rPr lang="en-US" sz="3200" dirty="0" err="1"/>
              <a:t>rótki</a:t>
            </a:r>
            <a:r>
              <a:rPr lang="en-US" sz="3200" dirty="0"/>
              <a:t> </a:t>
            </a:r>
            <a:r>
              <a:rPr lang="en-US" sz="3200" dirty="0" err="1"/>
              <a:t>opis</a:t>
            </a:r>
            <a:r>
              <a:rPr lang="en-US" sz="3200" dirty="0"/>
              <a:t> </a:t>
            </a:r>
            <a:r>
              <a:rPr lang="en-US" sz="3200" dirty="0" err="1"/>
              <a:t>zmienianych</a:t>
            </a:r>
            <a:r>
              <a:rPr lang="en-US" sz="3200" dirty="0"/>
              <a:t> </a:t>
            </a:r>
            <a:r>
              <a:rPr lang="en-US" sz="3200" dirty="0" err="1"/>
              <a:t>parametrów</a:t>
            </a:r>
            <a:r>
              <a:rPr lang="en-US" sz="3200" dirty="0"/>
              <a:t> </a:t>
            </a:r>
            <a:r>
              <a:rPr lang="en-US" sz="3200" dirty="0" err="1"/>
              <a:t>i</a:t>
            </a:r>
            <a:r>
              <a:rPr lang="en-US" sz="3200" dirty="0"/>
              <a:t> </a:t>
            </a:r>
            <a:r>
              <a:rPr lang="en-US" sz="3200" dirty="0" err="1"/>
              <a:t>błędu</a:t>
            </a:r>
            <a:r>
              <a:rPr lang="en-US" sz="3200" dirty="0"/>
              <a:t> </a:t>
            </a:r>
            <a:r>
              <a:rPr lang="en-US" sz="3200" dirty="0" err="1"/>
              <a:t>interpolacji</a:t>
            </a:r>
            <a:endParaRPr lang="pl-PL" sz="3200" dirty="0"/>
          </a:p>
        </p:txBody>
      </p:sp>
      <p:sp>
        <p:nvSpPr>
          <p:cNvPr id="6" name="pole tekstowe 5">
            <a:extLst>
              <a:ext uri="{FF2B5EF4-FFF2-40B4-BE49-F238E27FC236}">
                <a16:creationId xmlns:a16="http://schemas.microsoft.com/office/drawing/2014/main" id="{E659CC40-E795-FEE2-9CD3-32B87611415F}"/>
              </a:ext>
            </a:extLst>
          </p:cNvPr>
          <p:cNvSpPr txBox="1"/>
          <p:nvPr/>
        </p:nvSpPr>
        <p:spPr>
          <a:xfrm>
            <a:off x="107950" y="1193225"/>
            <a:ext cx="11976100" cy="5509200"/>
          </a:xfrm>
          <a:prstGeom prst="rect">
            <a:avLst/>
          </a:prstGeom>
          <a:noFill/>
        </p:spPr>
        <p:txBody>
          <a:bodyPr wrap="square" rtlCol="0">
            <a:spAutoFit/>
          </a:bodyPr>
          <a:lstStyle/>
          <a:p>
            <a:r>
              <a:rPr lang="en-US" sz="1600" b="1" dirty="0" err="1"/>
              <a:t>Metoda</a:t>
            </a:r>
            <a:r>
              <a:rPr lang="en-US" sz="1600" b="1" dirty="0"/>
              <a:t> </a:t>
            </a:r>
            <a:r>
              <a:rPr lang="en-US" sz="1600" b="1" dirty="0" err="1"/>
              <a:t>interpolacji</a:t>
            </a:r>
            <a:r>
              <a:rPr lang="en-US" sz="1600" b="1" dirty="0"/>
              <a:t> Kriging (Simple Kriging)</a:t>
            </a:r>
            <a:endParaRPr lang="pl-PL" sz="1600" dirty="0"/>
          </a:p>
          <a:p>
            <a:r>
              <a:rPr lang="pl-PL" sz="1600" dirty="0"/>
              <a:t>Trzecią zastosowaną metodą interpolacji przestrzennej stężeń pyłu PM10 była metoda geostatystyczna </a:t>
            </a:r>
            <a:r>
              <a:rPr lang="pl-PL" sz="1600" b="1" dirty="0"/>
              <a:t>Simple Kriging</a:t>
            </a:r>
            <a:r>
              <a:rPr lang="pl-PL" sz="1600" dirty="0"/>
              <a:t>. Metoda ta opiera się na założeniu występowania autokorelacji przestrzennej, czyli zależności pomiędzy wartościami stężeń a odległością pomiędzy punktami pomiarowymi. W przeciwieństwie do metod deterministycznych, Kriging uwzględnia strukturę przestrzenną danych poprzez analizę </a:t>
            </a:r>
            <a:r>
              <a:rPr lang="pl-PL" sz="1600" dirty="0" err="1"/>
              <a:t>semiwariogramu</a:t>
            </a:r>
            <a:r>
              <a:rPr lang="pl-PL" sz="1600" dirty="0"/>
              <a:t>, co pozwala uzyskać bardziej wiarygodne estymacje.</a:t>
            </a:r>
          </a:p>
          <a:p>
            <a:r>
              <a:rPr lang="pl-PL" sz="1600" b="1" dirty="0"/>
              <a:t>Zmiana parametrów interpolacji</a:t>
            </a:r>
            <a:endParaRPr lang="pl-PL" sz="1600" dirty="0"/>
          </a:p>
          <a:p>
            <a:r>
              <a:rPr lang="pl-PL" sz="1600" dirty="0"/>
              <a:t>W celu poprawy dopasowania modelu oraz obniżenia błędu interpolacji zmodyfikowano kluczowe parametry analizy:</a:t>
            </a:r>
          </a:p>
          <a:p>
            <a:pPr marL="742950" lvl="1" indent="-285750">
              <a:buFont typeface="Arial" panose="020B0604020202020204" pitchFamily="34" charset="0"/>
              <a:buChar char="•"/>
            </a:pPr>
            <a:r>
              <a:rPr lang="pl-PL" sz="1600" dirty="0"/>
              <a:t>zastosowano </a:t>
            </a:r>
            <a:r>
              <a:rPr lang="pl-PL" sz="1600" b="1" dirty="0"/>
              <a:t>Simple Kriging</a:t>
            </a:r>
            <a:r>
              <a:rPr lang="pl-PL" sz="1600" dirty="0"/>
              <a:t> zamiast </a:t>
            </a:r>
            <a:r>
              <a:rPr lang="pl-PL" sz="1600" dirty="0" err="1"/>
              <a:t>Ordinary</a:t>
            </a:r>
            <a:r>
              <a:rPr lang="pl-PL" sz="1600" dirty="0"/>
              <a:t> Kriging, aby uwzględnić stałą wartość średnią procesu</a:t>
            </a:r>
          </a:p>
          <a:p>
            <a:pPr marL="742950" lvl="1" indent="-285750">
              <a:buFont typeface="Arial" panose="020B0604020202020204" pitchFamily="34" charset="0"/>
              <a:buChar char="•"/>
            </a:pPr>
            <a:r>
              <a:rPr lang="pl-PL" sz="1600" dirty="0"/>
              <a:t>użyto transformacji danych typu </a:t>
            </a:r>
            <a:r>
              <a:rPr lang="pl-PL" sz="1600" b="1" dirty="0" err="1"/>
              <a:t>Normal</a:t>
            </a:r>
            <a:r>
              <a:rPr lang="pl-PL" sz="1600" b="1" dirty="0"/>
              <a:t> </a:t>
            </a:r>
            <a:r>
              <a:rPr lang="pl-PL" sz="1600" b="1" dirty="0" err="1"/>
              <a:t>Score</a:t>
            </a:r>
            <a:r>
              <a:rPr lang="pl-PL" sz="1600" dirty="0"/>
              <a:t>, co pozwoliło zbliżyć rozkład stężeń PM10 do rozkładu normalnego</a:t>
            </a:r>
          </a:p>
          <a:p>
            <a:pPr marL="742950" lvl="1" indent="-285750">
              <a:buFont typeface="Arial" panose="020B0604020202020204" pitchFamily="34" charset="0"/>
              <a:buChar char="•"/>
            </a:pPr>
            <a:r>
              <a:rPr lang="pl-PL" sz="1600" dirty="0"/>
              <a:t>dopasowano </a:t>
            </a:r>
            <a:r>
              <a:rPr lang="pl-PL" sz="1600" dirty="0" err="1"/>
              <a:t>semiwariogram</a:t>
            </a:r>
            <a:r>
              <a:rPr lang="pl-PL" sz="1600" dirty="0"/>
              <a:t> w oparciu o </a:t>
            </a:r>
            <a:r>
              <a:rPr lang="pl-PL" sz="1600" b="1" dirty="0"/>
              <a:t>model sferyczny (</a:t>
            </a:r>
            <a:r>
              <a:rPr lang="pl-PL" sz="1600" b="1" dirty="0" err="1"/>
              <a:t>Spherical</a:t>
            </a:r>
            <a:r>
              <a:rPr lang="pl-PL" sz="1600" b="1" dirty="0"/>
              <a:t>)</a:t>
            </a:r>
            <a:r>
              <a:rPr lang="pl-PL" sz="1600" dirty="0"/>
              <a:t>, który najlepiej opisywał zmienność przestrzenną danych</a:t>
            </a:r>
          </a:p>
          <a:p>
            <a:pPr marL="742950" lvl="1" indent="-285750">
              <a:buFont typeface="Arial" panose="020B0604020202020204" pitchFamily="34" charset="0"/>
              <a:buChar char="•"/>
            </a:pPr>
            <a:r>
              <a:rPr lang="pl-PL" sz="1600" dirty="0"/>
              <a:t>ustawiono sąsiedztwo wyszukiwania na poziomie:</a:t>
            </a:r>
          </a:p>
          <a:p>
            <a:pPr marL="1200150" lvl="2" indent="-285750">
              <a:buFont typeface="Arial" panose="020B0604020202020204" pitchFamily="34" charset="0"/>
              <a:buChar char="•"/>
            </a:pPr>
            <a:r>
              <a:rPr lang="pl-PL" sz="1600" dirty="0"/>
              <a:t>minimum 2 sąsiadów</a:t>
            </a:r>
          </a:p>
          <a:p>
            <a:pPr marL="1200150" lvl="2" indent="-285750">
              <a:buFont typeface="Arial" panose="020B0604020202020204" pitchFamily="34" charset="0"/>
              <a:buChar char="•"/>
            </a:pPr>
            <a:r>
              <a:rPr lang="pl-PL" sz="1600" dirty="0"/>
              <a:t>maksimum 5 sąsiadów</a:t>
            </a:r>
          </a:p>
          <a:p>
            <a:pPr marL="1200150" lvl="2" indent="-285750">
              <a:buFont typeface="Arial" panose="020B0604020202020204" pitchFamily="34" charset="0"/>
              <a:buChar char="•"/>
            </a:pPr>
            <a:r>
              <a:rPr lang="pl-PL" sz="1600" dirty="0"/>
              <a:t>podział na 4 sektory</a:t>
            </a:r>
          </a:p>
          <a:p>
            <a:r>
              <a:rPr lang="pl-PL" sz="1600" dirty="0"/>
              <a:t>Zmiany te ograniczyły wpływ wartości ekstremalnych oraz poprawiły stabilność przestrzennej powierzchni interpolacji.</a:t>
            </a:r>
          </a:p>
          <a:p>
            <a:r>
              <a:rPr lang="pl-PL" sz="1600" b="1" dirty="0"/>
              <a:t>Błąd interpolacji (walidacja krzyżowa)</a:t>
            </a:r>
            <a:endParaRPr lang="pl-PL" sz="1600" dirty="0"/>
          </a:p>
          <a:p>
            <a:r>
              <a:rPr lang="pl-PL" sz="1600" dirty="0"/>
              <a:t>Dokładność interpolacji oceniono na podstawie walidacji krzyżowej i wartości błędu </a:t>
            </a:r>
            <a:r>
              <a:rPr lang="pl-PL" sz="1600" b="1" dirty="0"/>
              <a:t>RMS (Root </a:t>
            </a:r>
            <a:r>
              <a:rPr lang="pl-PL" sz="1600" b="1" dirty="0" err="1"/>
              <a:t>Mean</a:t>
            </a:r>
            <a:r>
              <a:rPr lang="pl-PL" sz="1600" b="1" dirty="0"/>
              <a:t> </a:t>
            </a:r>
            <a:r>
              <a:rPr lang="pl-PL" sz="1600" b="1" dirty="0" err="1"/>
              <a:t>Square</a:t>
            </a:r>
            <a:r>
              <a:rPr lang="pl-PL" sz="1600" b="1" dirty="0"/>
              <a:t> Error)</a:t>
            </a:r>
            <a:r>
              <a:rPr lang="pl-PL" sz="1600" dirty="0"/>
              <a:t>. Otrzymano:</a:t>
            </a:r>
          </a:p>
          <a:p>
            <a:pPr marL="742950" lvl="1" indent="-285750">
              <a:buFont typeface="Arial" panose="020B0604020202020204" pitchFamily="34" charset="0"/>
              <a:buChar char="•"/>
            </a:pPr>
            <a:r>
              <a:rPr lang="pl-PL" sz="1600" dirty="0"/>
              <a:t>RMS ≈ 3,55</a:t>
            </a:r>
          </a:p>
          <a:p>
            <a:pPr marL="742950" lvl="1" indent="-285750">
              <a:buFont typeface="Arial" panose="020B0604020202020204" pitchFamily="34" charset="0"/>
              <a:buChar char="•"/>
            </a:pPr>
            <a:r>
              <a:rPr lang="pl-PL" sz="1600" dirty="0"/>
              <a:t>średni błąd standardowy ≈ 3,85</a:t>
            </a:r>
          </a:p>
          <a:p>
            <a:r>
              <a:rPr lang="pl-PL" sz="1600" dirty="0"/>
              <a:t>Wartość RMS wskazuje na bardzo dobrą zgodność wartości prognozowanych z obserwowanymi. W porównaniu z metodami IDW oraz RBFF, Kriging zapewnił najniższy błąd interpolacji, dlatego został uznany za najbardziej optymalną metodę w analizie stężeń PM10.</a:t>
            </a:r>
          </a:p>
        </p:txBody>
      </p:sp>
    </p:spTree>
    <p:extLst>
      <p:ext uri="{BB962C8B-B14F-4D97-AF65-F5344CB8AC3E}">
        <p14:creationId xmlns:p14="http://schemas.microsoft.com/office/powerpoint/2010/main" val="2296969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29A3FF1-396D-D280-A953-7A001ECCAD81}"/>
              </a:ext>
            </a:extLst>
          </p:cNvPr>
          <p:cNvSpPr>
            <a:spLocks noGrp="1"/>
          </p:cNvSpPr>
          <p:nvPr>
            <p:ph type="title"/>
          </p:nvPr>
        </p:nvSpPr>
        <p:spPr/>
        <p:txBody>
          <a:bodyPr>
            <a:noAutofit/>
          </a:bodyPr>
          <a:lstStyle/>
          <a:p>
            <a:r>
              <a:rPr lang="pl-PL" sz="3200" dirty="0">
                <a:solidFill>
                  <a:srgbClr val="000000"/>
                </a:solidFill>
                <a:ea typeface="Times New Roman" panose="02020603050405020304" pitchFamily="18" charset="0"/>
              </a:rPr>
              <a:t>Zestawienie błędów </a:t>
            </a:r>
            <a:r>
              <a:rPr lang="pl-PL" sz="3200" dirty="0">
                <a:ea typeface="Times New Roman" panose="02020603050405020304" pitchFamily="18" charset="0"/>
              </a:rPr>
              <a:t>dokładności otrzymanych w wyniku interpolacji map zanieczyszczeń i wybór optymalnej metody z uzasadnieniem</a:t>
            </a:r>
            <a:endParaRPr lang="pl-PL" sz="3200" dirty="0"/>
          </a:p>
        </p:txBody>
      </p:sp>
      <p:sp>
        <p:nvSpPr>
          <p:cNvPr id="4" name="pole tekstowe 3">
            <a:extLst>
              <a:ext uri="{FF2B5EF4-FFF2-40B4-BE49-F238E27FC236}">
                <a16:creationId xmlns:a16="http://schemas.microsoft.com/office/drawing/2014/main" id="{78476BC5-CA7D-7D4B-21C9-E6967EDD9F91}"/>
              </a:ext>
            </a:extLst>
          </p:cNvPr>
          <p:cNvSpPr txBox="1"/>
          <p:nvPr/>
        </p:nvSpPr>
        <p:spPr>
          <a:xfrm>
            <a:off x="838200" y="1690688"/>
            <a:ext cx="10515600" cy="4801314"/>
          </a:xfrm>
          <a:prstGeom prst="rect">
            <a:avLst/>
          </a:prstGeom>
          <a:noFill/>
        </p:spPr>
        <p:txBody>
          <a:bodyPr wrap="square" rtlCol="0">
            <a:spAutoFit/>
          </a:bodyPr>
          <a:lstStyle/>
          <a:p>
            <a:pPr algn="just"/>
            <a:r>
              <a:rPr lang="pl-PL" b="1" dirty="0"/>
              <a:t>Zestawienie błędów dokładności interpolacji (RMS)</a:t>
            </a:r>
            <a:endParaRPr lang="pl-PL" dirty="0"/>
          </a:p>
          <a:p>
            <a:pPr algn="just"/>
            <a:r>
              <a:rPr lang="pl-PL" dirty="0"/>
              <a:t>W celu oceny jakości wykonanych interpolacji przeprowadzono walidację krzyżową dla każdej metody. Kluczowym parametrem porównawczym był błąd RMS (Root </a:t>
            </a:r>
            <a:r>
              <a:rPr lang="pl-PL" dirty="0" err="1"/>
              <a:t>Mean</a:t>
            </a:r>
            <a:r>
              <a:rPr lang="pl-PL" dirty="0"/>
              <a:t> </a:t>
            </a:r>
            <a:r>
              <a:rPr lang="pl-PL" dirty="0" err="1"/>
              <a:t>Square</a:t>
            </a:r>
            <a:r>
              <a:rPr lang="pl-PL" dirty="0"/>
              <a:t> Error), który określa średnią różnicę pomiędzy wartościami zmierzonymi a prognozowanymi. Im niższa wartość RMS, tym dokładniejsza metoda interpolacji.</a:t>
            </a:r>
          </a:p>
          <a:p>
            <a:pPr algn="just"/>
            <a:r>
              <a:rPr lang="pl-PL" dirty="0"/>
              <a:t>Uzyskane wartości RMS wyniosły:</a:t>
            </a:r>
          </a:p>
          <a:p>
            <a:pPr marL="742950" lvl="1" indent="-285750" algn="just">
              <a:buFont typeface="Arial" panose="020B0604020202020204" pitchFamily="34" charset="0"/>
              <a:buChar char="•"/>
            </a:pPr>
            <a:r>
              <a:rPr lang="pl-PL" b="1" dirty="0"/>
              <a:t>IDW</a:t>
            </a:r>
            <a:r>
              <a:rPr lang="pl-PL" dirty="0"/>
              <a:t>: RMS ≈ </a:t>
            </a:r>
            <a:r>
              <a:rPr lang="pl-PL" b="1" dirty="0"/>
              <a:t>3,60</a:t>
            </a:r>
            <a:endParaRPr lang="pl-PL" dirty="0"/>
          </a:p>
          <a:p>
            <a:pPr marL="742950" lvl="1" indent="-285750" algn="just">
              <a:buFont typeface="Arial" panose="020B0604020202020204" pitchFamily="34" charset="0"/>
              <a:buChar char="•"/>
            </a:pPr>
            <a:r>
              <a:rPr lang="pl-PL" b="1" dirty="0"/>
              <a:t>RBFF</a:t>
            </a:r>
            <a:r>
              <a:rPr lang="pl-PL" dirty="0"/>
              <a:t>: RMS ≈ </a:t>
            </a:r>
            <a:r>
              <a:rPr lang="pl-PL" b="1" dirty="0"/>
              <a:t>3,59</a:t>
            </a:r>
            <a:endParaRPr lang="pl-PL" dirty="0"/>
          </a:p>
          <a:p>
            <a:pPr marL="742950" lvl="1" indent="-285750" algn="just">
              <a:buFont typeface="Arial" panose="020B0604020202020204" pitchFamily="34" charset="0"/>
              <a:buChar char="•"/>
            </a:pPr>
            <a:r>
              <a:rPr lang="pl-PL" b="1" dirty="0"/>
              <a:t>Kriging</a:t>
            </a:r>
            <a:r>
              <a:rPr lang="pl-PL" dirty="0"/>
              <a:t>: RMS ≈ </a:t>
            </a:r>
            <a:r>
              <a:rPr lang="pl-PL" b="1" dirty="0"/>
              <a:t>3,55</a:t>
            </a:r>
            <a:endParaRPr lang="pl-PL" dirty="0"/>
          </a:p>
          <a:p>
            <a:pPr algn="just"/>
            <a:r>
              <a:rPr lang="pl-PL" b="1" dirty="0"/>
              <a:t>Wybór metody optymalnej</a:t>
            </a:r>
            <a:endParaRPr lang="pl-PL" dirty="0"/>
          </a:p>
          <a:p>
            <a:pPr algn="just"/>
            <a:r>
              <a:rPr lang="pl-PL" dirty="0"/>
              <a:t>Na podstawie wartości RMS najbardziej dokładną metodą interpolacji okazał się </a:t>
            </a:r>
            <a:r>
              <a:rPr lang="pl-PL" b="1" dirty="0"/>
              <a:t>Kriging</a:t>
            </a:r>
            <a:r>
              <a:rPr lang="pl-PL" dirty="0"/>
              <a:t>, który osiągnął najniższy błąd (RMS ≈ 3,55). Oznacza to, że metoda ta najlepiej dopasowuje się do przestrzennej struktury danych i zapewnia najbardziej wiarygodne prognozy stężeń PM10.</a:t>
            </a:r>
          </a:p>
          <a:p>
            <a:pPr algn="just"/>
            <a:r>
              <a:rPr lang="pl-PL" dirty="0"/>
              <a:t>Metody deterministyczne (IDW i RBFF) również dały zbliżone wyniki, jednak ich błędy były nieco wyższe, dlatego jako metodę optymalną w analizie wybrano </a:t>
            </a:r>
            <a:r>
              <a:rPr lang="pl-PL" b="1" dirty="0"/>
              <a:t>Kriging</a:t>
            </a:r>
            <a:r>
              <a:rPr lang="pl-PL" dirty="0"/>
              <a:t>.</a:t>
            </a:r>
          </a:p>
          <a:p>
            <a:pPr algn="just"/>
            <a:r>
              <a:rPr lang="pl-PL" dirty="0"/>
              <a:t> </a:t>
            </a:r>
          </a:p>
          <a:p>
            <a:pPr algn="just"/>
            <a:endParaRPr lang="pl-PL" dirty="0"/>
          </a:p>
        </p:txBody>
      </p:sp>
    </p:spTree>
    <p:extLst>
      <p:ext uri="{BB962C8B-B14F-4D97-AF65-F5344CB8AC3E}">
        <p14:creationId xmlns:p14="http://schemas.microsoft.com/office/powerpoint/2010/main" val="661025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 name="Rectangle 46">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14EB0995-D87E-13F8-31E0-54108A6B8FDB}"/>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100"/>
              <a:t>Kompozycja mapowa różnicy stężeń pomiędzy badanymi okresami</a:t>
            </a:r>
          </a:p>
        </p:txBody>
      </p:sp>
      <p:sp>
        <p:nvSpPr>
          <p:cNvPr id="71" name="Rectangle 4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5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ole tekstowe 7">
            <a:extLst>
              <a:ext uri="{FF2B5EF4-FFF2-40B4-BE49-F238E27FC236}">
                <a16:creationId xmlns:a16="http://schemas.microsoft.com/office/drawing/2014/main" id="{0D69094A-1A65-3108-20EC-2FBC30EE9B1A}"/>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700"/>
              <a:t>Mapa przedstawia przestrzenny rozkład różnic średnich stężeń pyłu zawieszonego PM10 pomiędzy rokiem 2021 a 2019, wyznaczony metodą radialnych funkcji bazowych (RBFF). Wartości dodatnie oznaczają wzrost stężenia PM10 w 2021 roku w porównaniu do 2019, natomiast wartości ujemne wskazują na spadek stężeń w analizowanym okresie. Największe zmiany występują lokalnie w rejonach o większym zagęszczeniu stacji pomiarowych, co pokazuje zróżnicowanie dynamiki zanieczyszczenia powietrza w czasie.</a:t>
            </a:r>
          </a:p>
        </p:txBody>
      </p:sp>
      <p:pic>
        <p:nvPicPr>
          <p:cNvPr id="5" name="Symbol zastępczy zawartości 4" descr="Obraz zawierający tekst, mapa, zrzut ekranu, diagram&#10;&#10;Zawartość wygenerowana przez AI może być niepoprawna.">
            <a:extLst>
              <a:ext uri="{FF2B5EF4-FFF2-40B4-BE49-F238E27FC236}">
                <a16:creationId xmlns:a16="http://schemas.microsoft.com/office/drawing/2014/main" id="{3D882F22-D24B-C3B2-9186-58D556DFF51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 r="-2425" b="4"/>
          <a:stretch>
            <a:fillRect/>
          </a:stretch>
        </p:blipFill>
        <p:spPr>
          <a:xfrm>
            <a:off x="5911532" y="2484255"/>
            <a:ext cx="5377274" cy="3714244"/>
          </a:xfrm>
          <a:prstGeom prst="rect">
            <a:avLst/>
          </a:prstGeom>
        </p:spPr>
      </p:pic>
      <p:sp>
        <p:nvSpPr>
          <p:cNvPr id="73" name="Rectangle 5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4156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97CDA2D2-4E98-19B0-9F37-8A70FA24E55D}"/>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dirty="0"/>
              <a:t>Analiza </a:t>
            </a:r>
            <a:r>
              <a:rPr lang="en-US" sz="3700" dirty="0" err="1"/>
              <a:t>gęstości</a:t>
            </a:r>
            <a:r>
              <a:rPr lang="en-US" sz="3700" dirty="0"/>
              <a:t> </a:t>
            </a:r>
            <a:r>
              <a:rPr lang="en-US" sz="3700" dirty="0" err="1"/>
              <a:t>punktów</a:t>
            </a:r>
            <a:r>
              <a:rPr lang="en-US" sz="3700" dirty="0"/>
              <a:t> </a:t>
            </a:r>
            <a:r>
              <a:rPr lang="en-US" sz="3700" dirty="0" err="1"/>
              <a:t>pomiarowych</a:t>
            </a:r>
            <a:endParaRPr lang="en-US" sz="3700" dirty="0"/>
          </a:p>
        </p:txBody>
      </p:sp>
      <p:grpSp>
        <p:nvGrpSpPr>
          <p:cNvPr id="23"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ole tekstowe 6">
            <a:extLst>
              <a:ext uri="{FF2B5EF4-FFF2-40B4-BE49-F238E27FC236}">
                <a16:creationId xmlns:a16="http://schemas.microsoft.com/office/drawing/2014/main" id="{F3BE70B6-3840-309F-BF84-91970620C12A}"/>
              </a:ext>
            </a:extLst>
          </p:cNvPr>
          <p:cNvSpPr txBox="1"/>
          <p:nvPr/>
        </p:nvSpPr>
        <p:spPr>
          <a:xfrm>
            <a:off x="355197" y="2330505"/>
            <a:ext cx="5131204" cy="3979585"/>
          </a:xfrm>
          <a:prstGeom prst="rect">
            <a:avLst/>
          </a:prstGeom>
        </p:spPr>
        <p:txBody>
          <a:bodyPr vert="horz" lIns="91440" tIns="45720" rIns="91440" bIns="45720" rtlCol="0" anchor="ctr">
            <a:normAutofit/>
          </a:bodyPr>
          <a:lstStyle/>
          <a:p>
            <a:pPr algn="just">
              <a:lnSpc>
                <a:spcPct val="90000"/>
              </a:lnSpc>
              <a:spcAft>
                <a:spcPts val="600"/>
              </a:spcAft>
            </a:pPr>
            <a:r>
              <a:rPr lang="pl-PL" sz="1600" dirty="0"/>
              <a:t>W celu oceny przestrzennego rozmieszczenia punktów pomiarowych wykonano analizę gęstości metodą </a:t>
            </a:r>
            <a:r>
              <a:rPr lang="pl-PL" sz="1600" dirty="0" err="1"/>
              <a:t>Kernel</a:t>
            </a:r>
            <a:r>
              <a:rPr lang="pl-PL" sz="1600" dirty="0"/>
              <a:t> </a:t>
            </a:r>
            <a:r>
              <a:rPr lang="pl-PL" sz="1600" dirty="0" err="1"/>
              <a:t>Density</a:t>
            </a:r>
            <a:r>
              <a:rPr lang="pl-PL" sz="1600" dirty="0"/>
              <a:t>. Wynik przedstawia zagęszczenie stacji monitorujących stężenia pyłu zawieszonego PM10 na terenie Polski w latach 2011–2024. Największa koncentracja stacji występuje w południowej części kraju, szczególnie w rejonach silnie zurbanizowanych i uprzemysłowionych (Śląsk, Małopolska). Mniejsze zagęszczenie punktów pomiarowych widoczne jest w północno-wschodniej Polsce. Nierównomierne rozmieszczenie stacji ma znaczenie dla interpolacji, ponieważ dokładność modeli przestrzennych jest wyższa w obszarach o większej liczbie obserwacji.</a:t>
            </a:r>
          </a:p>
          <a:p>
            <a:pPr algn="just">
              <a:lnSpc>
                <a:spcPct val="90000"/>
              </a:lnSpc>
              <a:spcAft>
                <a:spcPts val="600"/>
              </a:spcAft>
            </a:pPr>
            <a:endParaRPr lang="en-US" sz="1600" dirty="0"/>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Symbol zastępczy zawartości 4" descr="Obraz zawierający tekst, diagram, mapa&#10;&#10;Zawartość wygenerowana przez AI może być niepoprawna.">
            <a:extLst>
              <a:ext uri="{FF2B5EF4-FFF2-40B4-BE49-F238E27FC236}">
                <a16:creationId xmlns:a16="http://schemas.microsoft.com/office/drawing/2014/main" id="{606A0544-B297-CE8F-6002-65A6A56F167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6403"/>
          <a:stretch>
            <a:fillRect/>
          </a:stretch>
        </p:blipFill>
        <p:spPr>
          <a:xfrm>
            <a:off x="6026856" y="1012114"/>
            <a:ext cx="5327274" cy="4508651"/>
          </a:xfrm>
          <a:prstGeom prst="rect">
            <a:avLst/>
          </a:prstGeom>
        </p:spPr>
      </p:pic>
    </p:spTree>
    <p:extLst>
      <p:ext uri="{BB962C8B-B14F-4D97-AF65-F5344CB8AC3E}">
        <p14:creationId xmlns:p14="http://schemas.microsoft.com/office/powerpoint/2010/main" val="1882437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27">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9B5E1C6-4975-7296-8329-63C103C1C5C5}"/>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a:t>Podsumowanie</a:t>
            </a:r>
          </a:p>
        </p:txBody>
      </p:sp>
      <p:sp>
        <p:nvSpPr>
          <p:cNvPr id="42" name="Rectangle 2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ole tekstowe 3">
            <a:extLst>
              <a:ext uri="{FF2B5EF4-FFF2-40B4-BE49-F238E27FC236}">
                <a16:creationId xmlns:a16="http://schemas.microsoft.com/office/drawing/2014/main" id="{C9DB0771-1E37-A105-1795-A7126A2BF234}"/>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700"/>
              <a:t>Przeprowadzone interpolacje stężeń PM10 dla obszaru Polski wykazały wyraźne zróżnicowanie przestrzenne poziomu zanieczyszczenia powietrza. Spośród zastosowanych metod (IDW, RBFF oraz Kriging) najniższą wartość błędu RMS uzyskał Kriging, co wskazuje na jego największą dokładność i najlepsze dopasowanie do struktury danych pomiarowych. Analiza map różnic pomiędzy latami 2019 i 2021 pozwoliła dodatkowo określić obszary, w których nastąpiły zmiany stężeń PM10, zarówno wzrosty, jak i spadki, co potwierdza zmienność tego zanieczyszczenia w czasie i przestrzeni.</a:t>
            </a:r>
          </a:p>
        </p:txBody>
      </p:sp>
      <p:pic>
        <p:nvPicPr>
          <p:cNvPr id="8" name="Obraz 7" descr="Obraz zawierający tekst, zrzut ekranu, diagram, mapa&#10;&#10;Zawartość wygenerowana przez AI może być niepoprawna.">
            <a:extLst>
              <a:ext uri="{FF2B5EF4-FFF2-40B4-BE49-F238E27FC236}">
                <a16:creationId xmlns:a16="http://schemas.microsoft.com/office/drawing/2014/main" id="{87C5CF6B-92B2-3B3F-C039-A927BF0CAB1E}"/>
              </a:ext>
            </a:extLst>
          </p:cNvPr>
          <p:cNvPicPr>
            <a:picLocks noChangeAspect="1"/>
          </p:cNvPicPr>
          <p:nvPr/>
        </p:nvPicPr>
        <p:blipFill>
          <a:blip r:embed="rId2">
            <a:extLst>
              <a:ext uri="{28A0092B-C50C-407E-A947-70E740481C1C}">
                <a14:useLocalDpi xmlns:a14="http://schemas.microsoft.com/office/drawing/2010/main" val="0"/>
              </a:ext>
            </a:extLst>
          </a:blip>
          <a:srcRect l="1" r="-405" b="4"/>
          <a:stretch>
            <a:fillRect/>
          </a:stretch>
        </p:blipFill>
        <p:spPr>
          <a:xfrm>
            <a:off x="5911532" y="2484255"/>
            <a:ext cx="5271241" cy="3714244"/>
          </a:xfrm>
          <a:prstGeom prst="rect">
            <a:avLst/>
          </a:prstGeom>
        </p:spPr>
      </p:pic>
      <p:sp>
        <p:nvSpPr>
          <p:cNvPr id="44" name="Rectangle 33">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6400117"/>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770caa2f-f4df-4716-ba18-b79b1dc5639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E8EA3E49D79CB4C86EE47697D615551" ma:contentTypeVersion="9" ma:contentTypeDescription="Create a new document." ma:contentTypeScope="" ma:versionID="08929e235632a61fda9af8d95e906099">
  <xsd:schema xmlns:xsd="http://www.w3.org/2001/XMLSchema" xmlns:xs="http://www.w3.org/2001/XMLSchema" xmlns:p="http://schemas.microsoft.com/office/2006/metadata/properties" xmlns:ns3="770caa2f-f4df-4716-ba18-b79b1dc5639a" xmlns:ns4="35cf823e-66f9-4578-b9a5-62211b2164cb" targetNamespace="http://schemas.microsoft.com/office/2006/metadata/properties" ma:root="true" ma:fieldsID="2fcddcef62239efb0555c7d2788612fc" ns3:_="" ns4:_="">
    <xsd:import namespace="770caa2f-f4df-4716-ba18-b79b1dc5639a"/>
    <xsd:import namespace="35cf823e-66f9-4578-b9a5-62211b2164cb"/>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0caa2f-f4df-4716-ba18-b79b1dc563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5cf823e-66f9-4578-b9a5-62211b2164c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477C93-FA91-4B89-A678-A271E4B07D95}">
  <ds:schemaRefs>
    <ds:schemaRef ds:uri="http://schemas.microsoft.com/sharepoint/v3/contenttype/forms"/>
  </ds:schemaRefs>
</ds:datastoreItem>
</file>

<file path=customXml/itemProps2.xml><?xml version="1.0" encoding="utf-8"?>
<ds:datastoreItem xmlns:ds="http://schemas.openxmlformats.org/officeDocument/2006/customXml" ds:itemID="{BF53AB03-1AA4-4147-B900-2C28A6AD2EC6}">
  <ds:schemaRefs>
    <ds:schemaRef ds:uri="http://schemas.microsoft.com/office/infopath/2007/PartnerControls"/>
    <ds:schemaRef ds:uri="http://purl.org/dc/terms/"/>
    <ds:schemaRef ds:uri="http://www.w3.org/XML/1998/namespace"/>
    <ds:schemaRef ds:uri="http://schemas.microsoft.com/office/2006/metadata/properties"/>
    <ds:schemaRef ds:uri="http://purl.org/dc/dcmitype/"/>
    <ds:schemaRef ds:uri="http://schemas.microsoft.com/office/2006/documentManagement/types"/>
    <ds:schemaRef ds:uri="http://purl.org/dc/elements/1.1/"/>
    <ds:schemaRef ds:uri="770caa2f-f4df-4716-ba18-b79b1dc5639a"/>
    <ds:schemaRef ds:uri="http://schemas.openxmlformats.org/package/2006/metadata/core-properties"/>
    <ds:schemaRef ds:uri="35cf823e-66f9-4578-b9a5-62211b2164cb"/>
  </ds:schemaRefs>
</ds:datastoreItem>
</file>

<file path=customXml/itemProps3.xml><?xml version="1.0" encoding="utf-8"?>
<ds:datastoreItem xmlns:ds="http://schemas.openxmlformats.org/officeDocument/2006/customXml" ds:itemID="{E0712FB4-36A8-4CE3-A50A-29B1CDF28C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0caa2f-f4df-4716-ba18-b79b1dc5639a"/>
    <ds:schemaRef ds:uri="35cf823e-66f9-4578-b9a5-62211b2164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Interpolacja przestrzenna stężeń PM10 w Polsce</Template>
  <TotalTime>1</TotalTime>
  <Words>2072</Words>
  <Application>Microsoft Office PowerPoint</Application>
  <PresentationFormat>Panoramiczny</PresentationFormat>
  <Paragraphs>131</Paragraphs>
  <Slides>24</Slides>
  <Notes>1</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24</vt:i4>
      </vt:variant>
    </vt:vector>
  </HeadingPairs>
  <TitlesOfParts>
    <vt:vector size="29" baseType="lpstr">
      <vt:lpstr>Aptos</vt:lpstr>
      <vt:lpstr>Aptos Display</vt:lpstr>
      <vt:lpstr>Arial</vt:lpstr>
      <vt:lpstr>Times New Roman</vt:lpstr>
      <vt:lpstr>Motyw pakietu Office</vt:lpstr>
      <vt:lpstr>Interpolacja przestrzenna stężeń PM10 w Polsce</vt:lpstr>
      <vt:lpstr>Charakterystyka wybranego związku chemicznego</vt:lpstr>
      <vt:lpstr>Analiza danych wejściowych na wykresach</vt:lpstr>
      <vt:lpstr>Analiza danych wejściowych na wykresach</vt:lpstr>
      <vt:lpstr>Analiza danych wejściowych na wykresach</vt:lpstr>
      <vt:lpstr>Analiza danych wejściowych na wykresach</vt:lpstr>
      <vt:lpstr>Prezentacja programu PowerPoint</vt:lpstr>
      <vt:lpstr>Krótka charakterystyka metody i błędu interpolacji</vt:lpstr>
      <vt:lpstr>Kompozycja mapowa I metody interpolacji - IDW, po zmianie parametrów analizy, </vt:lpstr>
      <vt:lpstr>Krótki opis zmienianych parametrów i błędu interpolacji</vt:lpstr>
      <vt:lpstr>Kompozycja mapowa I metody interpolacji – IDW dodatkowe analizowane lata 2021 i 2019 </vt:lpstr>
      <vt:lpstr>Kompozycja mapowa II metody interpolacji - RBFF </vt:lpstr>
      <vt:lpstr>Krótka charakterystyka metody i błędu interpolacji</vt:lpstr>
      <vt:lpstr>Kompozycja mapowa II metody interpolacji, po zmianie parametrów analizy </vt:lpstr>
      <vt:lpstr>Krótki opis zmienianych parametrów i błędu interpolacji</vt:lpstr>
      <vt:lpstr>Kompozycja mapowa II metody interpolacji –RBFF dodatkowe analizowane lata 2021 i 2019 </vt:lpstr>
      <vt:lpstr>Kompozycja mapowa III metody interpolacji – Kriging</vt:lpstr>
      <vt:lpstr>Krótka charakterystyka metody i błędu interpolacji</vt:lpstr>
      <vt:lpstr>Kompozycja mapowa III metody interpolacji, po zmianie parametrów analizy</vt:lpstr>
      <vt:lpstr> Krótki opis zmienianych parametrów i błędu interpolacji</vt:lpstr>
      <vt:lpstr>Zestawienie błędów dokładności otrzymanych w wyniku interpolacji map zanieczyszczeń i wybór optymalnej metody z uzasadnieniem</vt:lpstr>
      <vt:lpstr>Kompozycja mapowa różnicy stężeń pomiędzy badanymi okresami</vt:lpstr>
      <vt:lpstr>Analiza gęstości punktów pomiarowych</vt:lpstr>
      <vt:lpstr>Podsumowanie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Adrian Barbasiewicz (282026)</dc:creator>
  <cp:lastModifiedBy>Adrian Barbasiewicz (282026)</cp:lastModifiedBy>
  <cp:revision>1</cp:revision>
  <dcterms:created xsi:type="dcterms:W3CDTF">2026-05-12T09:24:36Z</dcterms:created>
  <dcterms:modified xsi:type="dcterms:W3CDTF">2026-05-12T09:26:10Z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0x0101005E8EA3E49D79CB4C86EE47697D615551</vt:lpwstr>
  </property>
</Properties>
</file>